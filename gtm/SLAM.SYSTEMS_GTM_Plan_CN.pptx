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1732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SLAM.SYSTEMS  ·  机密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09728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PingFang SC"/>
                <a:ea typeface="PingFang SC"/>
              </a:rPr>
              <a:t>市场进入计划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69748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8B8B8"/>
                </a:solidFill>
                <a:latin typeface="PingFang SC"/>
                <a:ea typeface="PingFang SC"/>
              </a:rPr>
              <a:t>Go-to-Market  ·  2026 Q4 – 2027 Q1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200400"/>
            <a:ext cx="1005840" cy="4445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1024128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PingFang SC"/>
                <a:ea typeface="PingFang SC"/>
              </a:rPr>
              <a:t>先打欧洲职业体育场馆。日韩明年进。社媒只做三家。获客靠名单，不靠广告。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26364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PingFang SC"/>
                <a:ea typeface="PingFang SC"/>
              </a:rPr>
              <a:t>8 页  ·  直接执行版  ·  2026.09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01  /  打哪个市场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先打欧洲。日韩排明年。中国是工厂，不是主战场。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737360" cy="117043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33856"/>
            <a:ext cx="1591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市场</a:t>
            </a:r>
          </a:p>
        </p:txBody>
      </p:sp>
      <p:sp>
        <p:nvSpPr>
          <p:cNvPr id="8" name="Rectangle 7"/>
          <p:cNvSpPr/>
          <p:nvPr/>
        </p:nvSpPr>
        <p:spPr>
          <a:xfrm>
            <a:off x="2304288" y="1078992"/>
            <a:ext cx="2880360" cy="117043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1133856"/>
            <a:ext cx="2734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现在做什么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84648" y="1078992"/>
            <a:ext cx="3246120" cy="117043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133856"/>
            <a:ext cx="309981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为什么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30768" y="1078992"/>
            <a:ext cx="3108960" cy="117043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133856"/>
            <a:ext cx="29626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明确不做什么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249424"/>
            <a:ext cx="17373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04288"/>
            <a:ext cx="1591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欧洲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DACH + 职业俱乐部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04288" y="2249424"/>
            <a:ext cx="28803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04288"/>
            <a:ext cx="2734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主战场。立刻打。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4648" y="2249424"/>
            <a:ext cx="324612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2304288"/>
            <a:ext cx="309981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瑞士主体、德文母版、Bülach 地址、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ROUNDS、已有手球/冰球/足球现场。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8" y="2249424"/>
            <a:ext cx="31089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2304288"/>
            <a:ext cx="29626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不铺全欧广告。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不先开英法意西站点。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419856"/>
            <a:ext cx="17373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1591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韩国 / 日本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04288" y="3419856"/>
            <a:ext cx="28803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474720"/>
            <a:ext cx="2734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2027 Q1 找代理。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今年不卖。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84648" y="3419856"/>
            <a:ext cx="324612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3474720"/>
            <a:ext cx="309981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场馆舍得为系统付钱，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但必须有本地伙伴和语言。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30768" y="3419856"/>
            <a:ext cx="3108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3474720"/>
            <a:ext cx="29626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不今秋做日韩语网站。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不投流。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590288"/>
            <a:ext cx="17373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645152"/>
            <a:ext cx="1591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中国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04288" y="4590288"/>
            <a:ext cx="28803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645152"/>
            <a:ext cx="27340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研发、制造、交付。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84648" y="4590288"/>
            <a:ext cx="324612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57800" y="4645152"/>
            <a:ext cx="309981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深圳工厂和软件团队在这里。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不是欧洲买家看的主场。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30768" y="4590288"/>
            <a:ext cx="3108960" cy="117043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3920" y="4645152"/>
            <a:ext cx="2962656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不把小红书当欧洲获客渠道。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897880"/>
            <a:ext cx="11045952" cy="475488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80176"/>
            <a:ext cx="10698480" cy="3291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PingFang SC"/>
                <a:ea typeface="PingFang SC"/>
              </a:rPr>
              <a:t>一句话：今秋只打欧洲。日韩是明年的第二场，不是现在的第二优先。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Q4–2027 Q1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2 / 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02  /  卖给谁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卖给场馆和集成商，不卖给观众。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3584448" cy="19659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207008"/>
            <a:ext cx="3200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场馆 / 俱乐部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74519"/>
            <a:ext cx="32004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手球、冰球、足球的技术总监、场馆经理。他们买的是「一个人能扛整场比赛」。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7" y="1078992"/>
            <a:ext cx="3584448" cy="19659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8847" y="1207008"/>
            <a:ext cx="3200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7" y="1481328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系统集成商 / 租赁商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1874519"/>
            <a:ext cx="32004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欧洲 AV、体育显示集成商。他们把 COR + LED 打包进项目。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6" y="1078992"/>
            <a:ext cx="3584448" cy="19659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6" y="1207008"/>
            <a:ext cx="3200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1481328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PingFang SC"/>
                <a:ea typeface="PingFang SC"/>
              </a:rPr>
              <a:t>联赛 / 转播相关方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6" y="1874519"/>
            <a:ext cx="32004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要数据、记分、信号稳定。不跟观众做品牌广告。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200400"/>
            <a:ext cx="10972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卖什么（就这三样）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520440"/>
            <a:ext cx="358444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639312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Media Playout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950208"/>
            <a:ext cx="3200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COR 家族：一人操作系统。主推 SCORE + DECK。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15967" y="3520440"/>
            <a:ext cx="358444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7" y="3639312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LED Video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7" y="3950208"/>
            <a:ext cx="3200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围栏、记分、室内外屏。用已有 UEFA 级现场做证据。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6" y="3520440"/>
            <a:ext cx="358444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47886" y="3639312"/>
            <a:ext cx="3200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项目制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6" y="3950208"/>
            <a:ext cx="3200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不卖散件目录。卖一场比赛能跑起来的整套。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120640"/>
            <a:ext cx="110642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1"/>
                </a:solidFill>
                <a:latin typeface="PingFang SC"/>
                <a:ea typeface="PingFang SC"/>
              </a:rPr>
              <a:t>不做：C 端粉丝运营、电商品牌、全国经销商大会、六国语言同时上。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Q4–2027 Q1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3 /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03  /  接下来 16 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一张图看完：网站何时上线，获客何时开始。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1018520" cy="272491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078992"/>
            <a:ext cx="1965960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1556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工作流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2888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2888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9/15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9499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79499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9/22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26110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26110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9/29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72722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2722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10/6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19333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19333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10/13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5945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5945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10/20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2556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2556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10/27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59168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59168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11/3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05779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5779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11/10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52390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2390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11/17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99002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99002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11/24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45613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5613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12/1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92225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92225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12/15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38836" y="1078992"/>
            <a:ext cx="646611" cy="29260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38836" y="1115568"/>
            <a:ext cx="64661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FFFFFF"/>
                </a:solidFill>
                <a:latin typeface="PingFang SC"/>
                <a:ea typeface="PingFang SC"/>
              </a:rPr>
              <a:t>1月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1371600"/>
            <a:ext cx="1965960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1371600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网站德文定稿+修缺陷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32888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79499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826110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72722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19333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65945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12556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059168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05779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52390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99002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45613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292225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38836" y="1371600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587752" y="1463040"/>
            <a:ext cx="1183494" cy="164592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66928" y="1719072"/>
            <a:ext cx="1965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1719072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英/中文首页与导航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32888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179499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826110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472722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119333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765945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12556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59168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05779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352390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999002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45613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292225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938836" y="1719072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234363" y="1810512"/>
            <a:ext cx="1830106" cy="16459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6928" y="2066544"/>
            <a:ext cx="1965960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2066544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slam.systems 切正式站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32888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179499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826110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72722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119333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765945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12556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059168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705779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352390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999002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45613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292225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938836" y="2066544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880974" y="2157984"/>
            <a:ext cx="1183494" cy="164592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66928" y="2414016"/>
            <a:ext cx="1965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58368" y="2414016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三社媒账号+首发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532888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179499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826110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472722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119333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765945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2556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059168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05779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352390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999002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645613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292225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938836" y="2414016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527586" y="2505456"/>
            <a:ext cx="1183494" cy="164592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6928" y="2761488"/>
            <a:ext cx="1965960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8368" y="2761488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三支视频成片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532888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179499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826110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472722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19333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765945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412556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059168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705779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352390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8999002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645613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292225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938836" y="2761488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880974" y="2852928"/>
            <a:ext cx="3123329" cy="16459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66928" y="3108960"/>
            <a:ext cx="196596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58368" y="3108960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欧洲 40 家名单触达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532888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179499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826110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472722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119333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765945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412556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7059168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705779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8352390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999002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645613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0292225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0938836" y="3108960"/>
            <a:ext cx="646611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527586" y="3200400"/>
            <a:ext cx="5063163" cy="16459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66928" y="3456432"/>
            <a:ext cx="1965960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58368" y="3456432"/>
            <a:ext cx="1837944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11111"/>
                </a:solidFill>
                <a:latin typeface="PingFang SC"/>
                <a:ea typeface="PingFang SC"/>
              </a:rPr>
              <a:t>日韩代理摸底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2532888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179499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826110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4472722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119333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65945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412556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059168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705779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352390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999002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645613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292225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10938836" y="3456432"/>
            <a:ext cx="646611" cy="34747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053866" y="3547872"/>
            <a:ext cx="2476717" cy="164592"/>
          </a:xfrm>
          <a:prstGeom prst="rect">
            <a:avLst/>
          </a:prstGeom>
          <a:solidFill>
            <a:srgbClr val="C4C4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66928" y="5897880"/>
            <a:ext cx="1106424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红条 = 必须在该周完成。灰条 = 启动但不作为本季考核。9/29 是网站德文上线日。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Q4–2027 Q1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4 / 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04  /  网站上线节点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德文先上 slam.systems。三语两周内补齐。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7635240" cy="78638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9/22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4248" y="1188720"/>
            <a:ext cx="2011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定稿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7315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德文 v2.2.6 冻结。修：首页假视频按钮、手机菜单缺 Peripherals、表单不能只靠 mailto。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1865376"/>
            <a:ext cx="25400" cy="82296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47672"/>
            <a:ext cx="7635240" cy="78638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9/29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84248" y="2057400"/>
            <a:ext cx="2011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上线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7315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slam.systems 切到新站。德文可对外发。i@slam.systems 人工 48 小时必回。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" y="2734056"/>
            <a:ext cx="25400" cy="82296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816352"/>
            <a:ext cx="7635240" cy="78638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10/13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84248" y="2926080"/>
            <a:ext cx="2011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三语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00400"/>
            <a:ext cx="7315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EN/ZH 导航和首页可用。内页允许英德混合，但不允许中文首页仍是英文。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" y="3602736"/>
            <a:ext cx="25400" cy="82296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685032"/>
            <a:ext cx="7635240" cy="78638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794760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004E"/>
                </a:solidFill>
                <a:latin typeface="PingFang SC"/>
                <a:ea typeface="PingFang SC"/>
              </a:rPr>
              <a:t>10/20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84248" y="3794760"/>
            <a:ext cx="2011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证据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7315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挂上 3 支视频、1 份项目 PDF、LinkedIn 可点回网站。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60" y="1078992"/>
            <a:ext cx="3246120" cy="214884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1207008"/>
            <a:ext cx="29260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004E"/>
                </a:solidFill>
                <a:latin typeface="PingFang SC"/>
                <a:ea typeface="PingFang SC"/>
              </a:rPr>
              <a:t>上线当天必须为真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31352" y="1536192"/>
            <a:ext cx="2926080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PingFang SC"/>
                <a:ea typeface="PingFang SC"/>
              </a:rPr>
              <a:t>· 德文全站可点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PingFang SC"/>
                <a:ea typeface="PingFang SC"/>
              </a:rPr>
              <a:t>· Start Your Project 能发来询盘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PingFang SC"/>
                <a:ea typeface="PingFang SC"/>
              </a:rPr>
              <a:t>· 瑞士 + 深圳地址正确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PingFang SC"/>
                <a:ea typeface="PingFang SC"/>
              </a:rPr>
              <a:t>· 手球 hero 仍是原片，不重做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3364992"/>
            <a:ext cx="3246120" cy="1965960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31352" y="3493008"/>
            <a:ext cx="29260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PingFang SC"/>
                <a:ea typeface="PingFang SC"/>
              </a:rPr>
              <a:t>上线当天可以还没做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1352" y="3822191"/>
            <a:ext cx="29260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· 日文 / 韩文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· 六个社媒图标全亮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· 复杂表单后台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· 案例页 20 张大图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Q4–2027 Q1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5 / 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05  /  社媒只做这三家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LinkedIn 获客。Instagram 证明画面。YouTube 能被搜到。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55448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3385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渠道</a:t>
            </a:r>
          </a:p>
        </p:txBody>
      </p:sp>
      <p:sp>
        <p:nvSpPr>
          <p:cNvPr id="8" name="Rectangle 7"/>
          <p:cNvSpPr/>
          <p:nvPr/>
        </p:nvSpPr>
        <p:spPr>
          <a:xfrm>
            <a:off x="2121408" y="1078992"/>
            <a:ext cx="233172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0" y="1133856"/>
            <a:ext cx="218541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为什么只选它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3128" y="1078992"/>
            <a:ext cx="306324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133856"/>
            <a:ext cx="291693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发什么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6368" y="1078992"/>
            <a:ext cx="155448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13385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频率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70848" y="1078992"/>
            <a:ext cx="2514600" cy="868680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133856"/>
            <a:ext cx="236829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谁来发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947672"/>
            <a:ext cx="155448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00253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LinkedIn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08" y="1947672"/>
            <a:ext cx="233172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4560" y="2002536"/>
            <a:ext cx="218541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买家在这里。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获客主场。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3128" y="1947672"/>
            <a:ext cx="306324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002536"/>
            <a:ext cx="291693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一人操作系统、场馆夜、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项目询盘入口。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16368" y="1947672"/>
            <a:ext cx="155448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0" y="200253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2 条/周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70848" y="1947672"/>
            <a:ext cx="251460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2002536"/>
            <a:ext cx="236829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Peter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Linda 转评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816352"/>
            <a:ext cx="15544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87121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Instagram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21408" y="2816352"/>
            <a:ext cx="23317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2871216"/>
            <a:ext cx="218541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画面即证据。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给集成商转发。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53128" y="2816352"/>
            <a:ext cx="30632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80" y="2871216"/>
            <a:ext cx="291693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控制室 15 秒、LED 近景、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比赛夜。不发参数表。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16368" y="2816352"/>
            <a:ext cx="15544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287121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3 条/周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70848" y="2816352"/>
            <a:ext cx="25146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0" y="2871216"/>
            <a:ext cx="236829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Eva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素材来自现场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685032"/>
            <a:ext cx="155448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373989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YouTube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21408" y="3685032"/>
            <a:ext cx="233172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39896"/>
            <a:ext cx="218541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能被搜到。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官网和邮件都嵌。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53128" y="3685032"/>
            <a:ext cx="306324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80" y="3739896"/>
            <a:ext cx="291693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60 秒系统片 + SCORE/LED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各一支 30 秒。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16368" y="3685032"/>
            <a:ext cx="155448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89520" y="3739896"/>
            <a:ext cx="140817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2 条/月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0848" y="3685032"/>
            <a:ext cx="2514600" cy="868680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739896"/>
            <a:ext cx="2368296" cy="79552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Jürg 定调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Donglin 协助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709160"/>
            <a:ext cx="11045952" cy="65836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828032"/>
            <a:ext cx="106984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PingFang SC"/>
                <a:ea typeface="PingFang SC"/>
              </a:rPr>
              <a:t>明确不做：TikTok、Pinterest、小红书（对欧洲获客）、Facebook 日常运营。账号可以占着，但不排期、不考核。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486400"/>
            <a:ext cx="1106424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ingFang SC"/>
                <a:ea typeface="PingFang SC"/>
              </a:rPr>
              <a:t>怎么发：同一条内容先出德语母版，再出英语。每周三定三条，周五发 LinkedIn，周末发 IG。所有帖带 slam.systems 和 i@slam.systems。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Q4–2027 Q1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6 / 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06  /  视频怎么做，客户怎么来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三支片子循环用。获客四条线，每周盯数字。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60704"/>
            <a:ext cx="5623560" cy="87782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52144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片子 A  ·  60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系统片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591056"/>
            <a:ext cx="53035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ingFang SC"/>
                <a:ea typeface="PingFang SC"/>
              </a:rPr>
              <a:t>一人、一场、整晚。用手球 hero 同场景延伸现有 6 秒片。官网首页、YouTube、询盘页都用这一支。10/20 交片。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020824"/>
            <a:ext cx="5623560" cy="87782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12264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片子 B  ·  30 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31720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51176"/>
            <a:ext cx="53035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ingFang SC"/>
                <a:ea typeface="PingFang SC"/>
              </a:rPr>
              <a:t>记分界面特写 + 场边大屏。只讲「一个人改比分」。LinkedIn / IG 主用。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980944"/>
            <a:ext cx="5623560" cy="877824"/>
          </a:xfrm>
          <a:prstGeom prst="rect">
            <a:avLst/>
          </a:prstGeom>
          <a:solidFill>
            <a:srgbClr val="F6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072384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片子 C  ·  30 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53035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11296"/>
            <a:ext cx="53035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PingFang SC"/>
                <a:ea typeface="PingFang SC"/>
              </a:rPr>
              <a:t>围栏和记分屏在比赛里的样子。给集成商转发，不讲像素间距。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060704"/>
            <a:ext cx="5120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PingFang SC"/>
                <a:ea typeface="PingFang SC"/>
              </a:rPr>
              <a:t>获客就四条线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389888"/>
            <a:ext cx="516636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1481328"/>
            <a:ext cx="4846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1  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1755648"/>
            <a:ext cx="48463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Peter + Linda 列出 40 家：德瑞奥俱乐部、场馆、集成商。每周触达 8 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46520" y="2350008"/>
            <a:ext cx="516636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1968" y="2441448"/>
            <a:ext cx="4846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2  伙伴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2715768"/>
            <a:ext cx="48463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ROUNDS 本季带 5 个瑞士/南德机会。不新开一堆经销商。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3310128"/>
            <a:ext cx="516636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3401568"/>
            <a:ext cx="4846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3  询盘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3675888"/>
            <a:ext cx="48463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网站表单 + i@slam.systems，48 小时内人回。记进一张表，每周一过。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4270248"/>
            <a:ext cx="516636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1968" y="4361688"/>
            <a:ext cx="48463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004E"/>
                </a:solidFill>
                <a:latin typeface="PingFang SC"/>
                <a:ea typeface="PingFang SC"/>
              </a:rPr>
              <a:t>4  展会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1968" y="4636008"/>
            <a:ext cx="484632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ingFang SC"/>
                <a:ea typeface="PingFang SC"/>
              </a:rPr>
              <a:t>只准备一场：ISE Barcelona 2027.02。今秋不另开欧洲巡展。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Q4–2027 Q1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7 / 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004E"/>
                </a:solidFill>
                <a:latin typeface="PingFang SC"/>
                <a:ea typeface="PingFang SC"/>
              </a:rPr>
              <a:t>07  /  90 天必须交出来的东西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106424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11111"/>
                </a:solidFill>
                <a:latin typeface="PingFang SC"/>
                <a:ea typeface="PingFang SC"/>
              </a:rPr>
              <a:t>日期、负责人、数字。没有第三种状态。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877824"/>
            <a:ext cx="384048" cy="3810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078992"/>
            <a:ext cx="1417320" cy="53035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33856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日期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4248" y="1078992"/>
            <a:ext cx="4160520" cy="53035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133856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必须交付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768" y="1078992"/>
            <a:ext cx="2926080" cy="53035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133856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负责人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70848" y="1078992"/>
            <a:ext cx="2514600" cy="530352"/>
          </a:xfrm>
          <a:prstGeom prst="rect">
            <a:avLst/>
          </a:prstGeom>
          <a:solidFill>
            <a:srgbClr val="111111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133856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数字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1609344"/>
            <a:ext cx="14173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664208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9/29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84248" y="1609344"/>
            <a:ext cx="41605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1664208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slam.systems 德文上线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1609344"/>
            <a:ext cx="292608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664208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Linda / 网站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0848" y="1609344"/>
            <a:ext cx="251460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1664208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1 个可对外域名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139696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2194560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10/13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84248" y="2139696"/>
            <a:ext cx="4160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7400" y="2194560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EN+ZH 首页与导航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2139696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2194560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Eva / 网站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70848" y="2139696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194560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3 个语言可切换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2670048"/>
            <a:ext cx="14173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2724912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10/13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4248" y="2670048"/>
            <a:ext cx="41605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2724912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LinkedIn / IG / YouTube 首发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44768" y="2670048"/>
            <a:ext cx="292608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2724912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Peter + Eva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70848" y="2670048"/>
            <a:ext cx="251460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24912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3 个账号各 ≥1 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200400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255264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10/20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984248" y="3200400"/>
            <a:ext cx="4160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3255264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三支视频可嵌官网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44768" y="3200400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3255264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Jürg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0848" y="3200400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0" y="3255264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60s + 30s + 30s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730752"/>
            <a:ext cx="14173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785616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11/30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984248" y="3730752"/>
            <a:ext cx="41605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057400" y="3785616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欧洲名单全部触达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44768" y="3730752"/>
            <a:ext cx="292608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17920" y="3785616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Peter + Linda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70848" y="3730752"/>
            <a:ext cx="251460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0" y="3785616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40 家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261104"/>
            <a:ext cx="14173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4315968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12/20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84248" y="4261104"/>
            <a:ext cx="41605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57400" y="4315968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有效对话（不是点赞）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44768" y="4261104"/>
            <a:ext cx="29260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17920" y="4315968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Linda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70848" y="4261104"/>
            <a:ext cx="2514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0" y="4315968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8 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4791456"/>
            <a:ext cx="14173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4846320"/>
            <a:ext cx="12710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11111"/>
                </a:solidFill>
                <a:latin typeface="PingFang SC"/>
                <a:ea typeface="PingFang SC"/>
              </a:rPr>
              <a:t>1/31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984248" y="4791456"/>
            <a:ext cx="416052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57400" y="4846320"/>
            <a:ext cx="401421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现场演示或场馆走访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44768" y="4791456"/>
            <a:ext cx="292608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17920" y="4846320"/>
            <a:ext cx="277977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Linda + Jürg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070848" y="4791456"/>
            <a:ext cx="2514600" cy="530352"/>
          </a:xfrm>
          <a:prstGeom prst="rect">
            <a:avLst/>
          </a:prstGeom>
          <a:solidFill>
            <a:srgbClr val="F6F6F5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0" y="4846320"/>
            <a:ext cx="2368296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11111"/>
                </a:solidFill>
                <a:latin typeface="PingFang SC"/>
                <a:ea typeface="PingFang SC"/>
              </a:rPr>
              <a:t>2 次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6928" y="5532120"/>
            <a:ext cx="11045952" cy="777240"/>
          </a:xfrm>
          <a:prstGeom prst="rect">
            <a:avLst/>
          </a:prstGeom>
          <a:solidFill>
            <a:srgbClr val="FF0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" y="5687568"/>
            <a:ext cx="1060704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下周一开始执行：冻结德文缺陷清单，列出 40 家欧洲名单初稿。日韩不进这张表。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6565392"/>
            <a:ext cx="54864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SLAM.SYSTEMS  ·  GTM 2026 Q4–2027 Q1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41280" y="6565392"/>
            <a:ext cx="13716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PingFang SC"/>
                <a:ea typeface="PingFang SC"/>
              </a:rPr>
              <a:t>8 / 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66928" y="6510528"/>
            <a:ext cx="11045952" cy="952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