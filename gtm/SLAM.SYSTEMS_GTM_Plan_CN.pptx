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004E"/>
                </a:solidFill>
                <a:latin typeface="PingFang SC"/>
                <a:ea typeface="PingFang SC"/>
              </a:rPr>
              <a:t>SLAM.SYSTEMS  ·  机密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0972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</a:rPr>
              <a:t>市场进入计划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50592"/>
            <a:ext cx="10972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8C8C8"/>
                </a:solidFill>
                <a:latin typeface="PingFang SC"/>
                <a:ea typeface="PingFang SC"/>
              </a:rPr>
              <a:t>整体战略  ·  2026 Q4 – 2027 Q1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44368"/>
            <a:ext cx="1097280" cy="4445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200400"/>
            <a:ext cx="1060704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</a:rPr>
              <a:t>欧洲现在卖项目。日本靠展会找经销商。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PingFang SC"/>
                <a:ea typeface="PingFang SC"/>
              </a:rPr>
              <a:t>线上五条线养管道。线下按展会出差——不参展，把人约出来。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PingFang SC"/>
                <a:ea typeface="PingFang SC"/>
              </a:rPr>
              <a:t>11 页  ·  执行版  ·  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004E"/>
                </a:solidFill>
                <a:latin typeface="PingFang SC"/>
                <a:ea typeface="PingFang SC"/>
              </a:rPr>
              <a:t>01  /  整体战略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1064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</a:rPr>
              <a:t>一件事：让职业场馆用一套系统打完整场比赛。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3584448" cy="4434840"/>
          </a:xfrm>
          <a:prstGeom prst="rect">
            <a:avLst/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73152" cy="443484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004E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品牌资产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42032"/>
            <a:ext cx="310896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PingFang SC"/>
                <a:ea typeface="PingFang SC"/>
              </a:rPr>
              <a:t>独立站是总部。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PingFang SC"/>
                <a:ea typeface="PingFang SC"/>
              </a:rPr>
              <a:t>LinkedIn / Instagram / YouTube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PingFang SC"/>
                <a:ea typeface="PingFang SC"/>
              </a:rPr>
              <a:t>是仅有的三块招牌。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PingFang SC"/>
                <a:ea typeface="PingFang SC"/>
              </a:rPr>
              <a:t>所有邮件、展会、经销商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PingFang SC"/>
                <a:ea typeface="PingFang SC"/>
              </a:rPr>
              <a:t>都指回 slam.systems。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1417320"/>
            <a:ext cx="3584448" cy="4434840"/>
          </a:xfrm>
          <a:prstGeom prst="rect">
            <a:avLst/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417320"/>
            <a:ext cx="73152" cy="443484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627632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004E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93392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需求管道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542032"/>
            <a:ext cx="310896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PingFang SC"/>
                <a:ea typeface="PingFang SC"/>
              </a:rPr>
              <a:t>邮件获客、直接触达、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PingFang SC"/>
                <a:ea typeface="PingFang SC"/>
              </a:rPr>
              <a:t>线上封闭活动。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PingFang SC"/>
                <a:ea typeface="PingFang SC"/>
              </a:rPr>
              <a:t>名单驱动，不投广告。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PingFang SC"/>
                <a:ea typeface="PingFang SC"/>
              </a:rPr>
              <a:t>展会前后把同一批人再打一遍。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4" y="1417320"/>
            <a:ext cx="3584448" cy="4434840"/>
          </a:xfrm>
          <a:prstGeom prst="rect">
            <a:avLst/>
          </a:prstGeom>
          <a:solidFill>
            <a:srgbClr val="161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4" y="1417320"/>
            <a:ext cx="73152" cy="443484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627632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004E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993392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落地与规模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542032"/>
            <a:ext cx="310896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PingFang SC"/>
                <a:ea typeface="PingFang SC"/>
              </a:rPr>
              <a:t>线下按展会出差。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PingFang SC"/>
                <a:ea typeface="PingFang SC"/>
              </a:rPr>
              <a:t>不租展位，把人约到酒店。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PingFang SC"/>
                <a:ea typeface="PingFang SC"/>
              </a:rPr>
              <a:t>规模不靠加人，靠经销商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C8C8"/>
                </a:solidFill>
                <a:latin typeface="PingFang SC"/>
                <a:ea typeface="PingFang SC"/>
              </a:rPr>
              <a:t>和集成商把系统送进场馆。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8C8"/>
                </a:solidFill>
                <a:latin typeface="PingFang SC"/>
                <a:ea typeface="PingFang SC"/>
              </a:rPr>
              <a:t>SLAM.SYSTEMS  ·  GTM 2026 Q4 – 2027 Q1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C8C8"/>
                </a:solidFill>
                <a:latin typeface="PingFang SC"/>
                <a:ea typeface="PingFang SC"/>
              </a:rPr>
              <a:t>2 / 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PingFang SC"/>
                <a:ea typeface="PingFang SC"/>
              </a:rPr>
              <a:t>02  /  市场与客户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PingFang SC"/>
                <a:ea typeface="PingFang SC"/>
              </a:rPr>
              <a:t>先打欧洲。日本用展会进。中国是工厂。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024128"/>
            <a:ext cx="2148840" cy="585216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60704"/>
            <a:ext cx="200253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市场</a:t>
            </a:r>
          </a:p>
        </p:txBody>
      </p:sp>
      <p:sp>
        <p:nvSpPr>
          <p:cNvPr id="8" name="Rectangle 7"/>
          <p:cNvSpPr/>
          <p:nvPr/>
        </p:nvSpPr>
        <p:spPr>
          <a:xfrm>
            <a:off x="2715768" y="1024128"/>
            <a:ext cx="1554480" cy="585216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060704"/>
            <a:ext cx="140817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角色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024128"/>
            <a:ext cx="3977639" cy="585216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60704"/>
            <a:ext cx="3831335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现在做什么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7887" y="1024128"/>
            <a:ext cx="3337560" cy="585216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9" y="1060704"/>
            <a:ext cx="319125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明确不做什么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609344"/>
            <a:ext cx="2148840" cy="585216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645920"/>
            <a:ext cx="200253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欧洲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DACH + 职业俱乐部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15768" y="1609344"/>
            <a:ext cx="1554480" cy="585216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1645920"/>
            <a:ext cx="140817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主战场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1609344"/>
            <a:ext cx="3977639" cy="585216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645920"/>
            <a:ext cx="3831335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立刻卖项目。独立站德文先上。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SPORTEL、ISE 出差打集成商。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7887" y="1609344"/>
            <a:ext cx="3337560" cy="585216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39" y="1645920"/>
            <a:ext cx="319125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不铺全欧广告。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不先开英法意西站点。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194560"/>
            <a:ext cx="21488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231136"/>
            <a:ext cx="200253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日本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15768" y="2194560"/>
            <a:ext cx="15544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2231136"/>
            <a:ext cx="140817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第二市场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0248" y="2194560"/>
            <a:ext cx="3977639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2231136"/>
            <a:ext cx="3831335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今秋不卖散单。Inter BEE、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Sports Week 出差找经销商。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7" y="2194560"/>
            <a:ext cx="33375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39" y="2231136"/>
            <a:ext cx="319125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不今秋做日语站。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不在日本投流、不租展位。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2779776"/>
            <a:ext cx="2148840" cy="585216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816352"/>
            <a:ext cx="200253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韩国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15768" y="2779776"/>
            <a:ext cx="1554480" cy="585216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2816352"/>
            <a:ext cx="140817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顺路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0248" y="2779776"/>
            <a:ext cx="3977639" cy="585216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2816352"/>
            <a:ext cx="3831335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2027.05 KOBA 可选。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日本经销商能带路再去。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7887" y="2779776"/>
            <a:ext cx="3337560" cy="585216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39" y="2816352"/>
            <a:ext cx="319125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不单开韩国战役。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364992"/>
            <a:ext cx="21488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401568"/>
            <a:ext cx="200253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中国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15768" y="3364992"/>
            <a:ext cx="15544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88920" y="3401568"/>
            <a:ext cx="140817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工厂 / 研发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3364992"/>
            <a:ext cx="3977639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400" y="3401568"/>
            <a:ext cx="3831335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深圳制造、软件、交付。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47887" y="3364992"/>
            <a:ext cx="33375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39" y="3401568"/>
            <a:ext cx="3191256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不把小红书当欧洲获客渠道。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04164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004E"/>
                </a:solidFill>
                <a:latin typeface="PingFang SC"/>
                <a:ea typeface="PingFang SC"/>
              </a:rPr>
              <a:t>卖给谁（就这三类）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352544"/>
            <a:ext cx="3584448" cy="192024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480560"/>
            <a:ext cx="3246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</a:rPr>
              <a:t>场馆 / 俱乐部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4809744"/>
            <a:ext cx="3246120" cy="1298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手球、冰球、足球的技术总监和场馆经理。买的是「一个人扛整场」。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15967" y="4352544"/>
            <a:ext cx="3584448" cy="192024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59" y="4480560"/>
            <a:ext cx="3246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</a:rPr>
              <a:t>集成商 / 租赁商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59" y="4809744"/>
            <a:ext cx="3246120" cy="1298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欧洲 AV、体育显示公司。把 COR + LED 打进项目。也是经销商苗子。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65006" y="4352544"/>
            <a:ext cx="3584448" cy="192024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598" y="4480560"/>
            <a:ext cx="3246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</a:rPr>
              <a:t>联赛 / 转播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598" y="4809744"/>
            <a:ext cx="3246120" cy="1298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要记分、数据和信号稳定。不跟观众做品牌。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PingFang SC"/>
                <a:ea typeface="PingFang SC"/>
              </a:rPr>
              <a:t>SLAM.SYSTEMS  ·  GTM 2026 Q4 – 2027 Q1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PingFang SC"/>
                <a:ea typeface="PingFang SC"/>
              </a:rPr>
              <a:t>3 / 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PingFang SC"/>
                <a:ea typeface="PingFang SC"/>
              </a:rPr>
              <a:t>03  /  作战地图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PingFang SC"/>
                <a:ea typeface="PingFang SC"/>
              </a:rPr>
              <a:t>线上五条，线下两条。同时转，不互相替代。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042415"/>
            <a:ext cx="6903720" cy="4773168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170432"/>
            <a:ext cx="6492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004E"/>
                </a:solidFill>
                <a:latin typeface="PingFang SC"/>
                <a:ea typeface="PingFang SC"/>
              </a:rPr>
              <a:t>线上  ·  一直在转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499616"/>
            <a:ext cx="6492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</a:rPr>
              <a:t>01  独立站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773936"/>
            <a:ext cx="64922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slam.systems 是总部。德文先上，英/中补齐。所有渠道的落地页。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22576"/>
            <a:ext cx="6492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</a:rPr>
              <a:t>02  社交媒体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596896"/>
            <a:ext cx="64922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只做 LinkedIn、Instagram、YouTube。获客、证据、可被搜到。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145536"/>
            <a:ext cx="6492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</a:rPr>
              <a:t>03  邮件获客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9856"/>
            <a:ext cx="64922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对名单发序列：介绍 → 现场片 → 展会约见。不群发行业通讯。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968496"/>
            <a:ext cx="6492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</a:rPr>
              <a:t>04  直接触达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242816"/>
            <a:ext cx="64922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Peter + Linda 点名 40 家欧洲场馆/集成商。每周 8 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791456"/>
            <a:ext cx="6492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</a:rPr>
              <a:t>05  线上活动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065776"/>
            <a:ext cx="649224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封闭简报，不是公开网红直播。每月一场，给集成商和经销商苗子。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1042415"/>
            <a:ext cx="3931920" cy="47731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1170432"/>
            <a:ext cx="3566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004E"/>
                </a:solidFill>
                <a:latin typeface="PingFang SC"/>
                <a:ea typeface="PingFang SC"/>
              </a:rPr>
              <a:t>线下  ·  按节点出动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1627632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06  展会出差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2066544"/>
            <a:ext cx="35661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8C8C8"/>
                </a:solidFill>
                <a:latin typeface="PingFang SC"/>
                <a:ea typeface="PingFang SC"/>
              </a:rPr>
              <a:t>按欧洲、日本节点出动。不参展。展前约人，展中见面，展后跟进。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3502151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07  经销商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3941063"/>
            <a:ext cx="35661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8C8C8"/>
                </a:solidFill>
                <a:latin typeface="PingFang SC"/>
                <a:ea typeface="PingFang SC"/>
              </a:rPr>
              <a:t>规模从这里来。欧洲在 ISE 扩集成商。日本用 Inter BEE 找一家。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925312"/>
            <a:ext cx="11064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PingFang SC"/>
                <a:ea typeface="PingFang SC"/>
              </a:rPr>
              <a:t>原则：线上把人养熟，线下按展会把人见掉。经销商是规模，不是今年秋天的招商大会。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PingFang SC"/>
                <a:ea typeface="PingFang SC"/>
              </a:rPr>
              <a:t>SLAM.SYSTEMS  ·  GTM 2026 Q4 – 2027 Q1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PingFang SC"/>
                <a:ea typeface="PingFang SC"/>
              </a:rPr>
              <a:t>4 / 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PingFang SC"/>
                <a:ea typeface="PingFang SC"/>
              </a:rPr>
              <a:t>04  /  独立站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PingFang SC"/>
                <a:ea typeface="PingFang SC"/>
              </a:rPr>
              <a:t>德文先上 slam.systems。三语两周内补齐。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042415"/>
            <a:ext cx="7635240" cy="969264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170431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004E"/>
                </a:solidFill>
                <a:latin typeface="PingFang SC"/>
                <a:ea typeface="PingFang SC"/>
              </a:rPr>
              <a:t>9/22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1408" y="1170431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PingFang SC"/>
                <a:ea typeface="PingFang SC"/>
              </a:rPr>
              <a:t>定稿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499615"/>
            <a:ext cx="72694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德文 v2.2.6 冻结。修首页假视频、手机菜单缺 Peripherals、表单不能只靠 mailto。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21407"/>
            <a:ext cx="7635240" cy="969264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249423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004E"/>
                </a:solidFill>
                <a:latin typeface="PingFang SC"/>
                <a:ea typeface="PingFang SC"/>
              </a:rPr>
              <a:t>9/29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2249423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PingFang SC"/>
                <a:ea typeface="PingFang SC"/>
              </a:rPr>
              <a:t>上线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78607"/>
            <a:ext cx="72694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slam.systems 切新站。德文可对外。i@slam.systems 人工 48 小时必回。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200399"/>
            <a:ext cx="7635240" cy="969264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328415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004E"/>
                </a:solidFill>
                <a:latin typeface="PingFang SC"/>
                <a:ea typeface="PingFang SC"/>
              </a:rPr>
              <a:t>10/13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328415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PingFang SC"/>
                <a:ea typeface="PingFang SC"/>
              </a:rPr>
              <a:t>三语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657599"/>
            <a:ext cx="72694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EN/ZH 导航和首页可用。中文首页不允许仍是英文。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279391"/>
            <a:ext cx="7635240" cy="969264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07407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004E"/>
                </a:solidFill>
                <a:latin typeface="PingFang SC"/>
                <a:ea typeface="PingFang SC"/>
              </a:rPr>
              <a:t>10/20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408" y="4407407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PingFang SC"/>
                <a:ea typeface="PingFang SC"/>
              </a:rPr>
              <a:t>弹药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36591"/>
            <a:ext cx="72694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三支片子、一份项目 PDF。所有邮件、社媒、展会二维码指回这里。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1042415"/>
            <a:ext cx="3246120" cy="2331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1352" y="1188720"/>
            <a:ext cx="2926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004E"/>
                </a:solidFill>
                <a:latin typeface="PingFang SC"/>
                <a:ea typeface="PingFang SC"/>
              </a:rPr>
              <a:t>上线当天必须为真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1554480"/>
            <a:ext cx="29260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PingFang SC"/>
                <a:ea typeface="PingFang SC"/>
              </a:rPr>
              <a:t>· 德文全站可点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PingFang SC"/>
                <a:ea typeface="PingFang SC"/>
              </a:rPr>
              <a:t>· Start Your Project 能变成询盘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PingFang SC"/>
                <a:ea typeface="PingFang SC"/>
              </a:rPr>
              <a:t>· 瑞士 + 深圳地址正确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PingFang SC"/>
                <a:ea typeface="PingFang SC"/>
              </a:rPr>
              <a:t>· 手球 hero 仍是原片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3529584"/>
            <a:ext cx="3246120" cy="182880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31352" y="3657600"/>
            <a:ext cx="2926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PingFang SC"/>
                <a:ea typeface="PingFang SC"/>
              </a:rPr>
              <a:t>上线当天可以还没做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1352" y="4005072"/>
            <a:ext cx="292608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PingFang SC"/>
                <a:ea typeface="PingFang SC"/>
              </a:rPr>
              <a:t>· 日文 / 韩文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PingFang SC"/>
                <a:ea typeface="PingFang SC"/>
              </a:rPr>
              <a:t>· 六个社媒图标全亮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PingFang SC"/>
                <a:ea typeface="PingFang SC"/>
              </a:rPr>
              <a:t>· 复杂表单后台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PingFang SC"/>
                <a:ea typeface="PingFang SC"/>
              </a:rPr>
              <a:t>· 案例页 20 张大图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PingFang SC"/>
                <a:ea typeface="PingFang SC"/>
              </a:rPr>
              <a:t>SLAM.SYSTEMS  ·  GTM 2026 Q4 – 2027 Q1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PingFang SC"/>
                <a:ea typeface="PingFang SC"/>
              </a:rPr>
              <a:t>5 / 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PingFang SC"/>
                <a:ea typeface="PingFang SC"/>
              </a:rPr>
              <a:t>05  /  社交媒体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PingFang SC"/>
                <a:ea typeface="PingFang SC"/>
              </a:rPr>
              <a:t>只做三家。发现场，不发参数。展会周加码。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024128"/>
            <a:ext cx="1554480" cy="960120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60704"/>
            <a:ext cx="140817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渠道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1024128"/>
            <a:ext cx="2240280" cy="960120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060704"/>
            <a:ext cx="209397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为什么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024128"/>
            <a:ext cx="3154680" cy="960120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60704"/>
            <a:ext cx="300837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发什么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16368" y="1024128"/>
            <a:ext cx="1828800" cy="960120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060704"/>
            <a:ext cx="168249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频率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45168" y="1024128"/>
            <a:ext cx="2240280" cy="960120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060704"/>
            <a:ext cx="209397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谁来发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984248"/>
            <a:ext cx="1554480" cy="960120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020824"/>
            <a:ext cx="140817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</a:rPr>
              <a:t>LinkedIn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21408" y="1984248"/>
            <a:ext cx="2240280" cy="960120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2020824"/>
            <a:ext cx="209397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买家在这里。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获客主场。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61688" y="1984248"/>
            <a:ext cx="3154680" cy="960120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020824"/>
            <a:ext cx="300837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一人操作系统、场馆夜、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展会约见入口。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8" y="1984248"/>
            <a:ext cx="1828800" cy="960120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020824"/>
            <a:ext cx="168249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2 条/周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展会周 4 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45168" y="1984248"/>
            <a:ext cx="2240280" cy="960120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020824"/>
            <a:ext cx="209397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Peter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Linda 转评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944368"/>
            <a:ext cx="15544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980944"/>
            <a:ext cx="140817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</a:rPr>
              <a:t>Instagram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21408" y="2944368"/>
            <a:ext cx="2240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2980944"/>
            <a:ext cx="209397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画面即证据。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给集成商转发。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61688" y="2944368"/>
            <a:ext cx="3154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2980944"/>
            <a:ext cx="300837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控制室 15 秒、LED 近景、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比赛夜。不发参数表。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16368" y="2944368"/>
            <a:ext cx="18288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2980944"/>
            <a:ext cx="168249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3 条/周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45168" y="2944368"/>
            <a:ext cx="22402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2980944"/>
            <a:ext cx="209397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Eva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素材来自现场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904488"/>
            <a:ext cx="1554480" cy="960120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941064"/>
            <a:ext cx="140817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</a:rPr>
              <a:t>YouTube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21408" y="3904488"/>
            <a:ext cx="2240280" cy="960120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3941064"/>
            <a:ext cx="209397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能被搜到。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官网和邮件都嵌。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61688" y="3904488"/>
            <a:ext cx="3154680" cy="960120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3941064"/>
            <a:ext cx="300837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60 秒系统片 + SCORE / LED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各一支 30 秒。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16368" y="3904488"/>
            <a:ext cx="1828800" cy="960120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0" y="3941064"/>
            <a:ext cx="168249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2 条/月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45168" y="3904488"/>
            <a:ext cx="2240280" cy="960120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0" y="3941064"/>
            <a:ext cx="2093976" cy="9052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Jürg 定调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</a:rPr>
              <a:t>Donglin 协助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5010912"/>
            <a:ext cx="11045952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5102352"/>
            <a:ext cx="106984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PingFang SC"/>
                <a:ea typeface="PingFang SC"/>
              </a:rPr>
              <a:t>三支片子循环用：A 60 秒系统片（10/20 交，用手球 intro 延伸）· B 30 秒 SCORE · C 30 秒 LED。官网、邮件、展会、经销商包同一套。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5779008"/>
            <a:ext cx="1106424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不做：TikTok、Pinterest、小红书对欧洲获客、Facebook 日常。账号可以占着，不排期、不考核。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PingFang SC"/>
                <a:ea typeface="PingFang SC"/>
              </a:rPr>
              <a:t>SLAM.SYSTEMS  ·  GTM 2026 Q4 – 2027 Q1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PingFang SC"/>
                <a:ea typeface="PingFang SC"/>
              </a:rPr>
              <a:t>6 / 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PingFang SC"/>
                <a:ea typeface="PingFang SC"/>
              </a:rPr>
              <a:t>06  /  邮件获客  ·  直接触达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PingFang SC"/>
                <a:ea typeface="PingFang SC"/>
              </a:rPr>
              <a:t>名单驱动。先欧洲 40 家。展会是约见由头。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042415"/>
            <a:ext cx="3584448" cy="288036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170432"/>
            <a:ext cx="321868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PingFang SC"/>
                <a:ea typeface="PingFang SC"/>
              </a:rPr>
              <a:t>邮件三封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572768"/>
            <a:ext cx="3218688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① 介绍：一人操作系统，链到独立站。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② 证据：嵌 60 秒系统片。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③ 约见：用最近一场展会当由头。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德语母版，英语备份。不群发。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7" y="1042415"/>
            <a:ext cx="3584448" cy="288036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7" y="1170432"/>
            <a:ext cx="321868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PingFang SC"/>
                <a:ea typeface="PingFang SC"/>
              </a:rPr>
              <a:t>直接触达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7" y="1572768"/>
            <a:ext cx="3218688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Peter + Linda 点名 40 家：德瑞奥俱乐部、场馆、集成商。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每周 8 家，电话 / LinkedIn / 邮件同一周打完。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ROUNDS 本季另带 5 个瑞士/南德机会。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6" y="1042415"/>
            <a:ext cx="3584448" cy="288036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6" y="1170432"/>
            <a:ext cx="321868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PingFang SC"/>
                <a:ea typeface="PingFang SC"/>
              </a:rPr>
              <a:t>询盘纪律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6" y="1572768"/>
            <a:ext cx="3218688" cy="2148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i@slam.systems 48 小时人回。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一张表，每周一过。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有效对话才计数，点赞不算。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展会周把回信改成「现场见」。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078224"/>
            <a:ext cx="358444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206240"/>
            <a:ext cx="321868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004E"/>
                </a:solidFill>
                <a:latin typeface="PingFang SC"/>
                <a:ea typeface="PingFang SC"/>
              </a:rPr>
              <a:t>T-21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80560"/>
            <a:ext cx="32186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</a:rPr>
              <a:t>展前三周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828032"/>
            <a:ext cx="3218688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对将出现的人发第③封，锁 8–12 个会。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5967" y="4078224"/>
            <a:ext cx="358444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7" y="4206240"/>
            <a:ext cx="321868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004E"/>
                </a:solidFill>
                <a:latin typeface="PingFang SC"/>
                <a:ea typeface="PingFang SC"/>
              </a:rPr>
              <a:t>T-7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7" y="4480560"/>
            <a:ext cx="32186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</a:rPr>
              <a:t>展前一周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7" y="4828032"/>
            <a:ext cx="3218688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确认时间、酒店、一页 PDF。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65006" y="4078224"/>
            <a:ext cx="358444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6" y="4206240"/>
            <a:ext cx="321868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004E"/>
                </a:solidFill>
                <a:latin typeface="PingFang SC"/>
                <a:ea typeface="PingFang SC"/>
              </a:rPr>
              <a:t>T+3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6" y="4480560"/>
            <a:ext cx="321868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</a:rPr>
              <a:t>展后三天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6" y="4828032"/>
            <a:ext cx="3218688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PingFang SC"/>
                <a:ea typeface="PingFang SC"/>
              </a:rPr>
              <a:t>纪要、片子、下一步。项目和经销商分两条跟。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PingFang SC"/>
                <a:ea typeface="PingFang SC"/>
              </a:rPr>
              <a:t>SLAM.SYSTEMS  ·  GTM 2026 Q4 – 2027 Q1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PingFang SC"/>
                <a:ea typeface="PingFang SC"/>
              </a:rPr>
              <a:t>7 / 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PingFang SC"/>
                <a:ea typeface="PingFang SC"/>
              </a:rPr>
              <a:t>07  /  事件营销  ·  线上活动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PingFang SC"/>
                <a:ea typeface="PingFang SC"/>
              </a:rPr>
              <a:t>不做公开大会。把正确的人关进一间小房间。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042415"/>
            <a:ext cx="5440680" cy="182880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207007"/>
            <a:ext cx="5029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PingFang SC"/>
                <a:ea typeface="PingFang SC"/>
              </a:rPr>
              <a:t>每月封闭简报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609343"/>
            <a:ext cx="502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PingFang SC"/>
                <a:ea typeface="PingFang SC"/>
              </a:rPr>
              <a:t>30 分钟。一人操作系统 + 一支片子。邀请 8–12 个集成商或经销商苗子。从 11 月起，Linda 主持。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042415"/>
            <a:ext cx="5440680" cy="182880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207007"/>
            <a:ext cx="5029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PingFang SC"/>
                <a:ea typeface="PingFang SC"/>
              </a:rPr>
              <a:t>展会前夜会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609343"/>
            <a:ext cx="502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PingFang SC"/>
                <a:ea typeface="PingFang SC"/>
              </a:rPr>
              <a:t>ISE / Inter BEE 前一晚，酒店 90 分钟。已约到的人再加 4 个当地名字。不办酒会。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008375"/>
            <a:ext cx="5440680" cy="182880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172967"/>
            <a:ext cx="5029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PingFang SC"/>
                <a:ea typeface="PingFang SC"/>
              </a:rPr>
              <a:t>比赛夜远程看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575303"/>
            <a:ext cx="502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PingFang SC"/>
                <a:ea typeface="PingFang SC"/>
              </a:rPr>
              <a:t>有现场时，给短名单开 20 分钟控制室窗口。证据比幻灯片强。Jürg 在场。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3008375"/>
            <a:ext cx="5440680" cy="182880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3172967"/>
            <a:ext cx="5029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PingFang SC"/>
                <a:ea typeface="PingFang SC"/>
              </a:rPr>
              <a:t>经销商私董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575303"/>
            <a:ext cx="502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PingFang SC"/>
                <a:ea typeface="PingFang SC"/>
              </a:rPr>
              <a:t>日本、欧洲各一场。讲授权范围、项目支持和 48 小时工厂响应。不讲招商政策。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074920"/>
            <a:ext cx="11064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PingFang SC"/>
                <a:ea typeface="PingFang SC"/>
              </a:rPr>
              <a:t>不做：粉丝直播、公开 Webinar 拉新、六国同传、为办活动而办活动。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532120"/>
            <a:ext cx="11045952" cy="777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50992"/>
            <a:ext cx="106070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PingFang SC"/>
                <a:ea typeface="PingFang SC"/>
              </a:rPr>
              <a:t>每次活动的产出只有三样：到场名单、2 个下一步会议、1 条可发 LinkedIn 的现场句。没有第四样。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PingFang SC"/>
                <a:ea typeface="PingFang SC"/>
              </a:rPr>
              <a:t>SLAM.SYSTEMS  ·  GTM 2026 Q4 – 2027 Q1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PingFang SC"/>
                <a:ea typeface="PingFang SC"/>
              </a:rPr>
              <a:t>8 / 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PingFang SC"/>
                <a:ea typeface="PingFang SC"/>
              </a:rPr>
              <a:t>08  /  展会节点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PingFang SC"/>
                <a:ea typeface="PingFang SC"/>
              </a:rPr>
              <a:t>不参展。按节点出差。欧洲打项目，日本找经销商。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005840"/>
            <a:ext cx="1783080" cy="566928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42416"/>
            <a:ext cx="163677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时间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0008" y="1005840"/>
            <a:ext cx="2331720" cy="566928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042416"/>
            <a:ext cx="21854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展会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1728" y="1005840"/>
            <a:ext cx="1417320" cy="566928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042416"/>
            <a:ext cx="12710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城市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48" y="1005840"/>
            <a:ext cx="2514600" cy="566928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042416"/>
            <a:ext cx="23682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打什么人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13648" y="1005840"/>
            <a:ext cx="2971800" cy="566928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042416"/>
            <a:ext cx="28254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怎么打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572768"/>
            <a:ext cx="178308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609344"/>
            <a:ext cx="163677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2026.10.19–21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50008" y="1572768"/>
            <a:ext cx="233172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1609344"/>
            <a:ext cx="21854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SPORTEL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1728" y="1572768"/>
            <a:ext cx="141732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609344"/>
            <a:ext cx="12710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摩纳哥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8" y="1572768"/>
            <a:ext cx="251460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609344"/>
            <a:ext cx="23682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联赛 / 转播 / 体育科技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13648" y="1572768"/>
            <a:ext cx="297180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1609344"/>
            <a:ext cx="28254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本季欧洲第一仗。参观 + 8 场会。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139696"/>
            <a:ext cx="1783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176272"/>
            <a:ext cx="163677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2026.11.18–20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50008" y="2139696"/>
            <a:ext cx="2331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2176272"/>
            <a:ext cx="21854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Inter BEE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1728" y="2139696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2176272"/>
            <a:ext cx="12710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千叶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9048" y="2139696"/>
            <a:ext cx="2514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2176272"/>
            <a:ext cx="23682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广电 / 系统商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13648" y="2139696"/>
            <a:ext cx="2971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2176272"/>
            <a:ext cx="28254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日本第一仗。找经销商，不卖散单。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2706624"/>
            <a:ext cx="178308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2743200"/>
            <a:ext cx="163677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2027.01.27–29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2706624"/>
            <a:ext cx="233172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2743200"/>
            <a:ext cx="21854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Japan Sports Week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81728" y="2706624"/>
            <a:ext cx="141732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2743200"/>
            <a:ext cx="12710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千叶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9048" y="2706624"/>
            <a:ext cx="251460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2743200"/>
            <a:ext cx="23682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球队 / 场馆设施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13648" y="2706624"/>
            <a:ext cx="297180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2743200"/>
            <a:ext cx="28254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经销商短名单。第二次日本出差。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3273552"/>
            <a:ext cx="1783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310128"/>
            <a:ext cx="163677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2027.02.01–02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50008" y="3273552"/>
            <a:ext cx="2331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23160" y="3310128"/>
            <a:ext cx="21854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Sports World Congress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81728" y="3273552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0" y="3310128"/>
            <a:ext cx="12710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巴塞罗那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99048" y="3273552"/>
            <a:ext cx="2514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3310128"/>
            <a:ext cx="23682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场馆运营商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13648" y="3273552"/>
            <a:ext cx="2971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0" y="3310128"/>
            <a:ext cx="28254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与 ISE 同城一周，场馆侧。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3840480"/>
            <a:ext cx="178308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3877056"/>
            <a:ext cx="163677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2027.02.02–05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50008" y="3840480"/>
            <a:ext cx="233172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23160" y="3877056"/>
            <a:ext cx="21854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ISE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81728" y="3840480"/>
            <a:ext cx="141732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0" y="3877056"/>
            <a:ext cx="12710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巴塞罗那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99048" y="3840480"/>
            <a:ext cx="251460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72200" y="3877056"/>
            <a:ext cx="23682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欧洲集成商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13648" y="3840480"/>
            <a:ext cx="2971800" cy="566928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86800" y="3877056"/>
            <a:ext cx="28254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本季欧洲主攻。项目 + 经销商苗子。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4407408"/>
            <a:ext cx="1783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4443984"/>
            <a:ext cx="163677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2027.05.11–14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50008" y="4407408"/>
            <a:ext cx="2331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23160" y="4443984"/>
            <a:ext cx="21854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KOBA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81728" y="4407408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4880" y="4443984"/>
            <a:ext cx="127101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首尔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99048" y="4407408"/>
            <a:ext cx="2514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72200" y="4443984"/>
            <a:ext cx="23682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韩国广电（可选）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13648" y="4407408"/>
            <a:ext cx="2971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86800" y="4443984"/>
            <a:ext cx="2825496" cy="5120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日本经销商能带路才去。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8" y="5102352"/>
            <a:ext cx="11045952" cy="1207008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PingFang SC"/>
                <a:ea typeface="PingFang SC"/>
              </a:rPr>
              <a:t>打法：2 人出差（商务 + 技术）。不租展位。展前 21 天锁 8–12 个会，住会场附近，早餐和晚间约人。每天 4 个有效会面。展后 7 天全跟完，分「项目」和「经销商」两条漏斗。IBC 阿姆斯特丹 2026.09 已过，本季不补位。FSB 科隆 2027.10 先占位，不进本季考核。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PingFang SC"/>
                <a:ea typeface="PingFang SC"/>
              </a:rPr>
              <a:t>SLAM.SYSTEMS  ·  GTM 2026 Q4 – 2027 Q1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PingFang SC"/>
                <a:ea typeface="PingFang SC"/>
              </a:rPr>
              <a:t>9 / 11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PingFang SC"/>
                <a:ea typeface="PingFang SC"/>
              </a:rPr>
              <a:t>09  /  经销商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PingFang SC"/>
                <a:ea typeface="PingFang SC"/>
              </a:rPr>
              <a:t>要规模，就要做经销商。展会是找人的地方。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642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PingFang SC"/>
                <a:ea typeface="PingFang SC"/>
              </a:rPr>
              <a:t>一家公司盖不住德瑞奥俱乐部和日本场馆。加人填不满。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11111"/>
                </a:solidFill>
                <a:latin typeface="PingFang SC"/>
                <a:ea typeface="PingFang SC"/>
              </a:rPr>
              <a:t>经销商和集成商把 COR + LED 送进项目，我们保交付和 48 小时工厂响应。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3584448" cy="324612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3584448" cy="508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1945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</a:rPr>
              <a:t>欧洲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651760"/>
            <a:ext cx="3200400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PingFang SC"/>
                <a:ea typeface="PingFang SC"/>
              </a:rPr>
              <a:t>ROUNDS 是现在的瑞士/南德入口。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PingFang SC"/>
                <a:ea typeface="PingFang SC"/>
              </a:rPr>
              <a:t>ISE 再找 2 家能打包场馆项目的集成商（德、荷或北欧）。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PingFang SC"/>
                <a:ea typeface="PingFang SC"/>
              </a:rPr>
              <a:t>本季目标：对话，不签 20 家。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7" y="1965960"/>
            <a:ext cx="3584448" cy="324612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7" y="1965960"/>
            <a:ext cx="3584448" cy="508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5" y="21945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</a:rPr>
              <a:t>日本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5" y="2651760"/>
            <a:ext cx="3200400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PingFang SC"/>
                <a:ea typeface="PingFang SC"/>
              </a:rPr>
              <a:t>必须有一家本地伙伴才进场。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PingFang SC"/>
                <a:ea typeface="PingFang SC"/>
              </a:rPr>
              <a:t>Inter BEE 开谈，Sports Week 收短名单，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PingFang SC"/>
                <a:ea typeface="PingFang SC"/>
              </a:rPr>
              <a:t>2027.03 目标一份 LOI。今秋不卖散单。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6" y="1965960"/>
            <a:ext cx="3584448" cy="3246120"/>
          </a:xfrm>
          <a:prstGeom prst="rect">
            <a:avLst/>
          </a:prstGeom>
          <a:solidFill>
            <a:srgbClr val="F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6" y="1965960"/>
            <a:ext cx="3584448" cy="508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4" y="21945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</a:rPr>
              <a:t>给什么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4" y="2651760"/>
            <a:ext cx="3200400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PingFang SC"/>
                <a:ea typeface="PingFang SC"/>
              </a:rPr>
              <a:t>德/英资料包、三支片子、项目 PDF、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PingFang SC"/>
                <a:ea typeface="PingFang SC"/>
              </a:rPr>
              <a:t>48 小时工厂支持、一场远程演示。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PingFang SC"/>
                <a:ea typeface="PingFang SC"/>
              </a:rPr>
              <a:t>不给消费品牌授权，不开招商会。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376672"/>
            <a:ext cx="11045952" cy="9326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522976"/>
            <a:ext cx="1060704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PingFang SC"/>
                <a:ea typeface="PingFang SC"/>
              </a:rPr>
              <a:t>规则：宁缺毋滥。欧洲增量 2 家，日本 1 家。先看他们有没有场馆项目，再谈授权。展会上交换名片不算经销商。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PingFang SC"/>
                <a:ea typeface="PingFang SC"/>
              </a:rPr>
              <a:t>SLAM.SYSTEMS  ·  GTM 2026 Q4 – 2027 Q1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PingFang SC"/>
                <a:ea typeface="PingFang SC"/>
              </a:rPr>
              <a:t>10 / 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004E"/>
                </a:solidFill>
                <a:latin typeface="PingFang SC"/>
                <a:ea typeface="PingFang SC"/>
              </a:rPr>
              <a:t>10  /  九十天必须交出来的东西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10642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PingFang SC"/>
                <a:ea typeface="PingFang SC"/>
              </a:rPr>
              <a:t>日期、负责人、数字。没有第三种状态。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384048" cy="38100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1234440" cy="438912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24128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日期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1368" y="987552"/>
            <a:ext cx="3703320" cy="438912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20" y="1024128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必须交付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4688" y="987552"/>
            <a:ext cx="2148840" cy="438912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024128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战线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53528" y="987552"/>
            <a:ext cx="1965960" cy="438912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80" y="1024128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负责人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19488" y="987552"/>
            <a:ext cx="1965960" cy="438912"/>
          </a:xfrm>
          <a:prstGeom prst="rect">
            <a:avLst/>
          </a:prstGeom>
          <a:solidFill>
            <a:srgbClr val="111111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1024128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</a:rPr>
              <a:t>数字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426464"/>
            <a:ext cx="12344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463040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9/29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1368" y="1426464"/>
            <a:ext cx="370332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20" y="1463040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slam.systems 德文上线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4688" y="1426464"/>
            <a:ext cx="21488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1463040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独立站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53528" y="1426464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80" y="1463040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Linda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19488" y="1426464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1463040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1 个域名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1865376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901952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10/13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01368" y="1865376"/>
            <a:ext cx="37033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74520" y="1901952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EN+ZH 首页 / 三社媒首发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04688" y="1865376"/>
            <a:ext cx="2148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1901952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独立站 · 社媒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53528" y="1865376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80" y="1901952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Eva + Peter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19488" y="1865376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1901952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3 语 + 3 账号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2304288"/>
            <a:ext cx="12344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2340864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10/20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01368" y="2304288"/>
            <a:ext cx="370332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74520" y="2340864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三支视频可嵌官网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04688" y="2304288"/>
            <a:ext cx="21488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2340864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社媒 · 邮件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53528" y="2304288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26680" y="2340864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Jürg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19488" y="2304288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2340864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60s+30s+30s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2743200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2779776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10/21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01368" y="2743200"/>
            <a:ext cx="37033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74520" y="2779776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SPORTEL 出差完成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04688" y="2743200"/>
            <a:ext cx="2148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0" y="2779776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展会 · 直达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53528" y="2743200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26680" y="2779776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Linda + Peter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19488" y="2743200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779776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8 场会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3182112"/>
            <a:ext cx="12344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3218688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11/20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01368" y="3182112"/>
            <a:ext cx="370332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74520" y="3218688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Inter BEE 经销商开谈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04688" y="3182112"/>
            <a:ext cx="21488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77840" y="3218688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展会 · 经销商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53528" y="3182112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26680" y="3218688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Linda + Jürg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19488" y="3182112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92640" y="3218688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6 家面谈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3621024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3657600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11/30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01368" y="3621024"/>
            <a:ext cx="37033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74520" y="3657600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欧洲名单全部触达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04688" y="3621024"/>
            <a:ext cx="2148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77840" y="3657600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邮件 · 直达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53528" y="3621024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26680" y="3657600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Peter + Linda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19488" y="3621024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92640" y="3657600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40 家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8" y="4059936"/>
            <a:ext cx="12344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4096512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12/20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01368" y="4059936"/>
            <a:ext cx="370332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74520" y="4096512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有效对话（不是点赞）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04688" y="4059936"/>
            <a:ext cx="21488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77840" y="4096512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直达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53528" y="4059936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26680" y="4096512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Linda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19488" y="4059936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92640" y="4096512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8 次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6928" y="4498848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" y="4535424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1/29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01368" y="4498848"/>
            <a:ext cx="37033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874520" y="4535424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日本经销商短名单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504688" y="4498848"/>
            <a:ext cx="2148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77840" y="4535424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经销商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653528" y="4498848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726680" y="4535424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Linda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619488" y="4498848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92640" y="4535424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3 家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28" y="4937760"/>
            <a:ext cx="12344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0080" y="4974336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2/05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01368" y="4937760"/>
            <a:ext cx="370332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874520" y="4974336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ISE + SWC 巴塞罗那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504688" y="4937760"/>
            <a:ext cx="214884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577840" y="4974336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展会 · 经销商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653528" y="4937760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726680" y="4974336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Linda + Jürg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619488" y="4937760"/>
            <a:ext cx="1965960" cy="438912"/>
          </a:xfrm>
          <a:prstGeom prst="rect">
            <a:avLst/>
          </a:prstGeom>
          <a:solidFill>
            <a:srgbClr val="F6F6F5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92640" y="4974336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12 场会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66928" y="5376672"/>
            <a:ext cx="12344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0080" y="5413248"/>
            <a:ext cx="10881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PingFang SC"/>
                <a:ea typeface="PingFang SC"/>
              </a:rPr>
              <a:t>3/31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01368" y="5376672"/>
            <a:ext cx="37033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874520" y="5413248"/>
            <a:ext cx="355701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日本 LOI 或明确放弃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504688" y="5376672"/>
            <a:ext cx="2148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577840" y="5413248"/>
            <a:ext cx="200253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经销商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653528" y="5376672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726680" y="5413248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Linda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619488" y="5376672"/>
            <a:ext cx="1965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92640" y="5413248"/>
            <a:ext cx="1819656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PingFang SC"/>
                <a:ea typeface="PingFang SC"/>
              </a:rPr>
              <a:t>1 份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66928" y="5870448"/>
            <a:ext cx="11045952" cy="475488"/>
          </a:xfrm>
          <a:prstGeom prst="rect">
            <a:avLst/>
          </a:prstGeom>
          <a:solidFill>
            <a:srgbClr val="FF0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31520" y="5925312"/>
            <a:ext cx="1069848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下周一开始：冻结德文缺陷清单，列出欧洲 40 家和 SPORTEL 会谈名单。日本进展会表，不进今秋销售表。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" y="6565392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PingFang SC"/>
                <a:ea typeface="PingFang SC"/>
              </a:rPr>
              <a:t>SLAM.SYSTEMS  ·  GTM 2026 Q4 – 2027 Q1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241280" y="6565392"/>
            <a:ext cx="1371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PingFang SC"/>
                <a:ea typeface="PingFang SC"/>
              </a:rPr>
              <a:t>11 / 11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66928" y="6510528"/>
            <a:ext cx="11045952" cy="952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