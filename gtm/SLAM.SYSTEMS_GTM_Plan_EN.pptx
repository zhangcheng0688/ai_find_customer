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Calibri"/>
                <a:ea typeface="Calibri"/>
              </a:rPr>
              <a:t>SLAM.SYSTEMS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50592"/>
            <a:ext cx="10972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C8C8"/>
                </a:solidFill>
                <a:latin typeface="Calibri"/>
                <a:ea typeface="Calibri"/>
              </a:rPr>
              <a:t>The operating strategy  ·  Q4 2026 – Q1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44368"/>
            <a:ext cx="1097280" cy="4445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00400"/>
            <a:ext cx="106070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  <a:ea typeface="Calibri"/>
              </a:rPr>
              <a:t>Sell projects in Europe now. Enter Japan through shows and dealers.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  <a:ea typeface="Calibri"/>
              </a:rPr>
              <a:t>Five online engines fill the pipe. Offline we travel the show calendar — no booth, meetings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Calibri"/>
                <a:ea typeface="Calibri"/>
              </a:rPr>
              <a:t>12 slides  ·  Operating version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Calibri"/>
                <a:ea typeface="Calibri"/>
              </a:rPr>
              <a:t>01  /  The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1064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</a:rPr>
              <a:t>One job: one system that runs a professional match night.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3584448" cy="443484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73152" cy="443484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4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</a:rPr>
              <a:t>Brand 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The site is HQ.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LinkedIn / Instagram / YouTube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are the only three signs.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Mail, shows and dealers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all point back to slam.systems.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417320"/>
            <a:ext cx="3584448" cy="443484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4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</a:rPr>
              <a:t>Demand 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42032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Email, direct outreach,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closed online briefings.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Named accounts, no ads.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The same names get hit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before and after each show.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1417320"/>
            <a:ext cx="3584448" cy="443484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417320"/>
            <a:ext cx="73152" cy="443484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6276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4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99339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</a:rPr>
              <a:t>Land &amp;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542032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Travel the show calendar.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No booth — hotel meetings.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Scale is not headcount.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Dealers and integrators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Calibri"/>
                <a:ea typeface="Calibri"/>
              </a:rPr>
              <a:t>put the system in venues.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8C8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8C8"/>
                </a:solidFill>
                <a:latin typeface="Calibri"/>
                <a:ea typeface="Calibri"/>
              </a:rPr>
              <a:t>2 /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02  /  Markets and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Europe first. Japan through shows. China is the factory.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24128"/>
            <a:ext cx="2148840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60704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5768" y="1024128"/>
            <a:ext cx="1554480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060704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024128"/>
            <a:ext cx="3977639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60704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Do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7" y="1024128"/>
            <a:ext cx="3337560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060704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Do not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9344"/>
            <a:ext cx="214884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Europe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DACH + pro clubs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5768" y="1609344"/>
            <a:ext cx="155448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645920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Primary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609344"/>
            <a:ext cx="3977639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45920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Sell projects now. German site first.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Travel SPORTEL and ISE.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7" y="1609344"/>
            <a:ext cx="333756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1645920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No pan-EU ads.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No FR/IT/ES sites first.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94560"/>
            <a:ext cx="21488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231136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Japan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768" y="2194560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231136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Second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194560"/>
            <a:ext cx="3977639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231136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Do not sell parts this autumn.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Inter BEE + Sports Week for dealers.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7" y="2194560"/>
            <a:ext cx="3337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9" y="2231136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No JP site this autumn.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No ads, no booth.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779776"/>
            <a:ext cx="214884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16352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Korea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5768" y="2779776"/>
            <a:ext cx="155448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2816352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Optional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2779776"/>
            <a:ext cx="3977639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816352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KOBA May 2027 only if a Japan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dealer can open the door.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7" y="2779776"/>
            <a:ext cx="333756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39" y="2816352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No standalone Korea campaign.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64992"/>
            <a:ext cx="21488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01568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China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15768" y="3364992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3401568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Factory / R&amp;D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3364992"/>
            <a:ext cx="3977639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3401568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Shenzhen builds, codes, ships.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47887" y="3364992"/>
            <a:ext cx="3337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9" y="3401568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Xiaohongshu is not a Europe channel.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4164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Calibri"/>
                <a:ea typeface="Calibri"/>
              </a:rPr>
              <a:t>Who we sell to (only these three)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352544"/>
            <a:ext cx="3584448" cy="192024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480560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Venues / clubs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809744"/>
            <a:ext cx="3246120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Technical directors in handball, ice hockey, football. They buy one operator for a full match.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7" y="4352544"/>
            <a:ext cx="3584448" cy="192024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59" y="4480560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Integrators / rental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4809744"/>
            <a:ext cx="3246120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European AV and sports-display firms. They bundle COR + LED — and are dealer candidates.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6" y="4352544"/>
            <a:ext cx="3584448" cy="192024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598" y="4480560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Leagues / broadcast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598" y="4809744"/>
            <a:ext cx="3246120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Score, data, stable signal. We do not advertise to fans.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3 / 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03  /  Operating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Five online. Two offline. They run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6903720" cy="4773168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170432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Calibri"/>
                <a:ea typeface="Calibri"/>
              </a:rPr>
              <a:t>Online  ·  always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49961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01 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7393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slam.systems is HQ. German first, EN/ZH next. Every channel lands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2257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02 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9689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LinkedIn, Instagram, YouTube only. Sell, prove, be searchable.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4553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03 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985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Sequences to the named list: intro → film → show meeting. No industry newsletter.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6849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04  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24281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Peter + Linda name 40 EU venues/integrators. Eight a week.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79145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05  Online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06577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Closed briefings, not public livestreams. Monthly, for integrators and dealer candidates.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042415"/>
            <a:ext cx="3931920" cy="4773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1170432"/>
            <a:ext cx="3566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Calibri"/>
                <a:ea typeface="Calibri"/>
              </a:rPr>
              <a:t>Offline  ·  on the 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1627632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06  Show travel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066544"/>
            <a:ext cx="3566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C8C8"/>
                </a:solidFill>
                <a:latin typeface="Calibri"/>
                <a:ea typeface="Calibri"/>
              </a:rPr>
              <a:t>Move on the Europe and Japan calendar. No booth. Book, meet, follow 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3502151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07  Dealers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941063"/>
            <a:ext cx="3566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C8C8"/>
                </a:solidFill>
                <a:latin typeface="Calibri"/>
                <a:ea typeface="Calibri"/>
              </a:rPr>
              <a:t>This is scale. Add EU integrators at ISE. Find one Japan partner at Inter BEE.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25312"/>
            <a:ext cx="11064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Calibri"/>
                <a:ea typeface="Calibri"/>
              </a:rPr>
              <a:t>Rule: online warms the names. Offline closes them at shows. Dealers are scale — not an autumn franchise conference.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4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04  /  The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German live on slam.systems first. EN/ZH within two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170431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22 Sep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1170431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99615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Lock German v2.2.6. Fix fake Watch-video, missing Peripherals in mobile nav, mailto-only forms.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7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49423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29 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249423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Go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78607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Cut slam.systems to the new site. German is public. i@slam.systems answered in 48 hours.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00399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28415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13 Oct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328415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3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57599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EN/ZH nav and home work. Chinese home must not stay English.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79391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07407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20 Oct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4407407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Ammunition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36591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7s SCORE film ends on the form (subject Scoreboard Handball). Then system/LED films and a project PDF.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042415"/>
            <a:ext cx="3246120" cy="2331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1188720"/>
            <a:ext cx="2926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Calibri"/>
                <a:ea typeface="Calibri"/>
              </a:rPr>
              <a:t>Must be true on go-live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1554480"/>
            <a:ext cx="29260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· Full German site clickable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· Start Your Project produces an enquiry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· Swiss + Shenzhen addresses correct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· Handball hero stays the original still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529584"/>
            <a:ext cx="324612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3657600"/>
            <a:ext cx="2926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Calibri"/>
                <a:ea typeface="Calibri"/>
              </a:rPr>
              <a:t>Allowed to 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4005072"/>
            <a:ext cx="29260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· Japanese / Korean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· All six social icons live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· A heavy form backend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· A 20-image case gallery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5 / 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05  / 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Prove two channels first. Swiss SIM. Post the match, not the spec.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24128"/>
            <a:ext cx="1691640" cy="74980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60704"/>
            <a:ext cx="15453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68" y="1024128"/>
            <a:ext cx="2148840" cy="74980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060704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024128"/>
            <a:ext cx="3063240" cy="74980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060704"/>
            <a:ext cx="29169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What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0648" y="1024128"/>
            <a:ext cx="1965960" cy="74980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060704"/>
            <a:ext cx="181965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Cadence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1024128"/>
            <a:ext cx="2148840" cy="74980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060704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Who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773936"/>
            <a:ext cx="16916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10512"/>
            <a:ext cx="15453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LinkedIn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1773936"/>
            <a:ext cx="21488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1810512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Open now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Buyer home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773936"/>
            <a:ext cx="30632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810512"/>
            <a:ext cx="29169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One-operator system, match night,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show meeting. German master.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0648" y="1773936"/>
            <a:ext cx="196596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1810512"/>
            <a:ext cx="181965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Every 2–3 days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Double in show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36608" y="1773936"/>
            <a:ext cx="21488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810512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Peter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 comments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23744"/>
            <a:ext cx="1691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560320"/>
            <a:ext cx="15453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Instagram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8568" y="2523744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2560320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Open now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Picture is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2523744"/>
            <a:ext cx="3063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560320"/>
            <a:ext cx="29169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Reels: control room, LED, match night.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No spec sheets.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0648" y="2523744"/>
            <a:ext cx="1965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2560320"/>
            <a:ext cx="181965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Every 2–3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36608" y="2523744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560320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Eva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Site footage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273552"/>
            <a:ext cx="16916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310128"/>
            <a:ext cx="15453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X / Twitter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58568" y="3273552"/>
            <a:ext cx="21488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3310128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After the two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Short news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8" y="3273552"/>
            <a:ext cx="30632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3310128"/>
            <a:ext cx="29169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One line, one still, one link.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Like Stramatel: install + match night.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70648" y="3273552"/>
            <a:ext cx="196596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3310128"/>
            <a:ext cx="181965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When there is news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36608" y="3273552"/>
            <a:ext cx="2148840" cy="74980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3310128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Peter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023360"/>
            <a:ext cx="1691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059936"/>
            <a:ext cx="15453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YouTube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8568" y="4023360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1720" y="4059936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After the two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Search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7408" y="4023360"/>
            <a:ext cx="3063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4059936"/>
            <a:ext cx="29169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7s SCORE + 60s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+ longer how-to.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0648" y="4023360"/>
            <a:ext cx="1965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4059936"/>
            <a:ext cx="181965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2 / month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36608" y="4023360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4059936"/>
            <a:ext cx="2002536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Jürg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Donglin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919472"/>
            <a:ext cx="11045952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</a:rPr>
              <a:t>Register on a new Swiss mobile number. Accounts stay off personal SIMs. Newsjack match nights and show weeks, not consumer gadget launches.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687568"/>
            <a:ext cx="1106424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Facebook is for watching competitors, not a daily channel. No TikTok / Xiaohongshu for Europe. AI may draft copy. A person publishes.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6 / 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06  /  Email  ·  Direct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Named accounts. Forty in Europe first. Shows are the reason to meet.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3584448" cy="288036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321868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Three 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3218688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1 Intro: one-operator system, link the site.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2 Proof: embed the 60s film.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3 Meeting: the next show is the reason.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German master, English backup. No blast.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7" y="1042415"/>
            <a:ext cx="3584448" cy="288036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7" y="1170432"/>
            <a:ext cx="321868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7" y="1572768"/>
            <a:ext cx="3218688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Peter + Linda name 40: DACH clubs, arenas, integrators.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Eight a week — phone, LinkedIn, mail in the same week.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ROUNDS brings five more Swiss / south-German chances.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6" y="1042415"/>
            <a:ext cx="3584448" cy="288036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6" y="1170432"/>
            <a:ext cx="321868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Inbound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6" y="1572768"/>
            <a:ext cx="3218688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i@slam.systems, human reply in 48h.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One sheet, reviewed Mondays.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Only real conversations 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In show week, replies become “see you there”.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078224"/>
            <a:ext cx="35844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206240"/>
            <a:ext cx="32186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Calibri"/>
                <a:ea typeface="Calibri"/>
              </a:rPr>
              <a:t>T-21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80560"/>
            <a:ext cx="32186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Three weeks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828032"/>
            <a:ext cx="321868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Send email 3 to people who will be there. Lock 8–12 meetings.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4078224"/>
            <a:ext cx="35844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7" y="4206240"/>
            <a:ext cx="32186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Calibri"/>
                <a:ea typeface="Calibri"/>
              </a:rPr>
              <a:t>T-7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7" y="4480560"/>
            <a:ext cx="32186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One week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4828032"/>
            <a:ext cx="321868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Confirm time, hotel, one-pager.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6" y="4078224"/>
            <a:ext cx="35844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6" y="4206240"/>
            <a:ext cx="32186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Calibri"/>
                <a:ea typeface="Calibri"/>
              </a:rPr>
              <a:t>T+3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6" y="4480560"/>
            <a:ext cx="32186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</a:rPr>
              <a:t>Three days 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6" y="4828032"/>
            <a:ext cx="321868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Notes + film + next step. Project track or dealer track.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7 /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07  /  Events  ·  Online briefings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No public festival. Put the right people in a small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20700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Monthly closed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0934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30 minutes. One-operator system + one film. Invite 8–12 integrators or dealer candidates. From November, Linda hosts.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04241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20700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Night-before the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60934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90 minutes in the hotel the evening before ISE / Inter BEE. The booked names plus four local adds. Not a drinks party.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0837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17296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Match-night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7530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When we have a live job, open a 20-minute control-room view for the shortlist. Proof beats slides. Jürg on the 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00837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17296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</a:rPr>
              <a:t>Dealer roundtable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57530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One Europe, one Japan. Territory, project support, 48h factory. Not a franchise pitch.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074920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Calibri"/>
                <a:ea typeface="Calibri"/>
              </a:rPr>
              <a:t>Do not: fan livestreams, public lead-gen webinars, six-language simulcast, events for their own sake.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532120"/>
            <a:ext cx="11045952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50992"/>
            <a:ext cx="10607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Each event produces only three things: the attendance list, two next meetings, one LinkedIn line from the room. Nothing else.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8 /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08  /  Show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No booth. Travel the nodes. Europe for projects, Japan for a dealer.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05840"/>
            <a:ext cx="178308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42416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1005840"/>
            <a:ext cx="233172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042416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1728" y="1005840"/>
            <a:ext cx="141732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042416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05840"/>
            <a:ext cx="251460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042416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Who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13648" y="1005840"/>
            <a:ext cx="297180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042416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How we play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572768"/>
            <a:ext cx="178308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609344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19–21 Oct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0008" y="1572768"/>
            <a:ext cx="23317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1609344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SPORTEL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1572768"/>
            <a:ext cx="14173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609344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Monaco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572768"/>
            <a:ext cx="25146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609344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Leagues / broadcast / sports tech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1572768"/>
            <a:ext cx="29718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609344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First Europe trip. Visitor + 8 meetings.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139696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176272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18–20 Nov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139696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176272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Inter BEE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2139696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176272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Chiba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8" y="2139696"/>
            <a:ext cx="2514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176272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Broadcast / system houses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3648" y="2139696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176272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First Japan trip. Hunt a dealer, no parts sales.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706624"/>
            <a:ext cx="178308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743200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27–29 Jan 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2706624"/>
            <a:ext cx="23317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2743200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Japan Sports Week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1728" y="2706624"/>
            <a:ext cx="14173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743200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Chiba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8" y="2706624"/>
            <a:ext cx="25146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2743200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Teams / venue facilities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2706624"/>
            <a:ext cx="29718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Dealer shortlist. Second Japan trip.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273552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310128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1–2 Feb 2027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50008" y="3273552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3310128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Sports World Congress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81728" y="3273552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3310128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Barcelona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9048" y="3273552"/>
            <a:ext cx="2514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310128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Venue operators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13648" y="3273552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3310128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Same week as ISE. Venue side.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840480"/>
            <a:ext cx="178308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877056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2–5 Feb 2027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50008" y="3840480"/>
            <a:ext cx="23317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23160" y="3877056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ISE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81728" y="3840480"/>
            <a:ext cx="14173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3877056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Barcelona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9048" y="3840480"/>
            <a:ext cx="25146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3877056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European integrators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13648" y="3840480"/>
            <a:ext cx="29718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3877056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Main Europe strike. Projects + dealer seeds.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07408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443984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11–14 May 2027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50008" y="4407408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3160" y="4443984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KOBA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81728" y="440740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4443984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Seoul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9048" y="4407408"/>
            <a:ext cx="2514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4443984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Korea broadcast (optional)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13648" y="4407408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0" y="4443984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Only if a Japan dealer opens the door.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5102352"/>
            <a:ext cx="11045952" cy="1207008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Calibri"/>
                <a:ea typeface="Calibri"/>
              </a:rPr>
              <a:t>Play: two people travel (commercial + technical). No booth. Twenty-one days out, lock 8–12 meetings near the hall — breakfast and evening. Four real meetings a day. Seven days after, every name followed, split into project vs dealer. IBC Amsterdam Sep 2026 has passed; we do not backfill. FSB Cologne Oct 2027 is a hold, not a Q1 KPI.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9 / 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09  /  Dealers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Scale needs dealers. Shows are where we find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642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Calibri"/>
                <a:ea typeface="Calibri"/>
              </a:rPr>
              <a:t>One company cannot cover DACH clubs and Japanese venues. Hiring will not close the gap.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Calibri"/>
                <a:ea typeface="Calibri"/>
              </a:rPr>
              <a:t>Dealers and integrators put COR + LED into projects. We keep delivery and a 48-hour factory.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584448" cy="32461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3584448" cy="508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Calibri"/>
                <a:ea typeface="Calibri"/>
              </a:rP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51760"/>
            <a:ext cx="3200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ROUNDS is the Swiss / south-German door now.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ISE: two more integrators who can package a venue (DE, NL or Nordic).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This season: conversations, not twenty contracts.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7" y="1965960"/>
            <a:ext cx="3584448" cy="32461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7" y="1965960"/>
            <a:ext cx="3584448" cy="508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5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Calibri"/>
                <a:ea typeface="Calibri"/>
              </a:rPr>
              <a:t>Japan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5" y="2651760"/>
            <a:ext cx="3200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We do not enter without one local partner.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Inter BEE opens talks, Sports Week shortlists,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LOI target March 2027. No parts sales this autumn.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6" y="1965960"/>
            <a:ext cx="3584448" cy="32461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6" y="1965960"/>
            <a:ext cx="3584448" cy="508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4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Calibri"/>
                <a:ea typeface="Calibri"/>
              </a:rPr>
              <a:t>What they 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4" y="2651760"/>
            <a:ext cx="3200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DE/EN pack, three films, project PDF,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48h factory, one remote demo.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  <a:ea typeface="Calibri"/>
              </a:rPr>
              <a:t>No consumer franchise. No dealer conference.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376672"/>
            <a:ext cx="110459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522976"/>
            <a:ext cx="10607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Rule: few and real. Two incremental in Europe, one in Japan. Venue projects first, paper second. A badge scan is not a dealer.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10 /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10  /  Slam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This autumn we still sell projects. Agent is the 2027 story, not this quarter’s SKU.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2670048" cy="41605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25296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The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237744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Package hardware + software as Slam Agent: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the intelligent proxy for a match night,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not just a scoreboard. This is how we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leave commodity LED behind.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78992"/>
            <a:ext cx="2670048" cy="41605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225296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The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664208"/>
            <a:ext cx="237744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Open Linux gateway. Voice to lights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and ad playlists. Natural language: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“hold the next timeout ad.”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Demo first. Then put it on the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078992"/>
            <a:ext cx="2670048" cy="41605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225296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The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664208"/>
            <a:ext cx="237744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Sense the arena: applause triggers a light cue.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Not a fan toy. Show integrators the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reacts to the match.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078992"/>
            <a:ext cx="2670048" cy="41605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225296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Calibri"/>
                <a:ea typeface="Calibri"/>
              </a:rPr>
              <a:t>The 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1664208"/>
            <a:ext cx="237744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A Custom AI Solution door on Solutions.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Ask for stats, ticketing, lighting plots.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  <a:ea typeface="Calibri"/>
              </a:rPr>
              <a:t>Collect demand. Do not fake shipping.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413248"/>
            <a:ext cx="11045952" cy="89611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41264"/>
            <a:ext cx="106984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</a:rPr>
              <a:t>Rule: the German site this autumn still sells one-operator SCORE + LED. Agent lives in briefings, LinkedIn and closed rooms — it does not replace product names.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11 / 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Calibri"/>
                <a:ea typeface="Calibri"/>
              </a:rPr>
              <a:t>11  /  What must be done in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  <a:ea typeface="Calibri"/>
              </a:rPr>
              <a:t>Date, owner, number. No third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23444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24128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987552"/>
            <a:ext cx="370332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1024128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Must 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987552"/>
            <a:ext cx="214884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024128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3528" y="987552"/>
            <a:ext cx="196596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102412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Owner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9488" y="987552"/>
            <a:ext cx="196596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02412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426464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63040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29 Sep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1368" y="1426464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20" y="1463040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German live on slam.systems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1426464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463040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53528" y="1426464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146304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19488" y="1426464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1 domain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186537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01952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13 Oct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1368" y="1865376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20" y="1901952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EN+ZH home / LI+IG first posts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4688" y="1865376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1901952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Site · Social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53528" y="1865376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190195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Eva + Peter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1865376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190195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2 accounts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304288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340864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20 Oct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1368" y="2304288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74520" y="2340864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7s SCORE film + form jump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4688" y="2304288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2340864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Site · Video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53528" y="2304288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234086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Jürg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19488" y="2304288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234086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7s → form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2743200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779776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21 Oct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01368" y="2743200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74520" y="2779776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SPORTEL trip done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04688" y="2743200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2779776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Show · Direct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53528" y="2743200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277977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 + Peter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19488" y="2743200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77977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8 meetings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182112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218688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20 Nov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01368" y="3182112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74520" y="3218688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Inter BEE dealer talks open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04688" y="3182112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3218688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Show · Dealer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53528" y="3182112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26680" y="321868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 + Jürg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19488" y="3182112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321868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6 meetings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3621024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3657600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30 Nov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01368" y="3621024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74520" y="3657600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Full Europe list reached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04688" y="3621024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3657600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Email · Direct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53528" y="3621024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26680" y="365760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Peter + Linda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19488" y="3621024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365760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40 accounts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4059936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096512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20 Dec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01368" y="4059936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4096512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Real conversations (not likes)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04688" y="4059936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4096512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Direct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53528" y="4059936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26680" y="409651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19488" y="4059936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0" y="409651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" y="4498848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4535424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29 Jan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01368" y="4498848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74520" y="4535424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Japan dealer shortlist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04688" y="4498848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4535424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Dealer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53528" y="4498848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26680" y="453542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19488" y="4498848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0" y="453542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3 names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4937760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4974336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5 Feb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01368" y="4937760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74520" y="4974336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ISE + SWC Barcelona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04688" y="4937760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77840" y="4974336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Show · Dealer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53528" y="4937760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26680" y="497433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 + Jürg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19488" y="4937760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92640" y="497433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12 meetings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28" y="53766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5413248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Calibri"/>
                <a:ea typeface="Calibri"/>
              </a:rPr>
              <a:t>31 Mar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01368" y="5376672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74520" y="5413248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Japan LOI or a clear 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04688" y="5376672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77840" y="5413248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Dealer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53528" y="5376672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26680" y="541324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Linda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19488" y="5376672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92640" y="541324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alibri"/>
                <a:ea typeface="Calibri"/>
              </a:rPr>
              <a:t>1 paper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28" y="5870448"/>
            <a:ext cx="11045952" cy="475488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1520" y="5925312"/>
            <a:ext cx="106984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Start next Monday: freeze the German defect list, draft the 40 EU names and the SPORTEL meeting list. Japan is on the show calendar, not on this autumn’s sales sheet.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SLAM.SYSTEMS  ·  GTM 2026 Q4 – 2027 Q1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Calibri"/>
                <a:ea typeface="Calibri"/>
              </a:rPr>
              <a:t>12 / 12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