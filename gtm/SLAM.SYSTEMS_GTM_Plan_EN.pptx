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09728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004E"/>
                </a:solidFill>
                <a:latin typeface="Calibri"/>
                <a:ea typeface="Calibri"/>
              </a:rPr>
              <a:t>SLAM.SYSTEMS  · 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874519"/>
            <a:ext cx="1097280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Calibri"/>
                <a:ea typeface="Calibri"/>
              </a:rPr>
              <a:t>Go-to-Market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697480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B8B8B8"/>
                </a:solidFill>
                <a:latin typeface="Calibri"/>
                <a:ea typeface="Calibri"/>
              </a:rPr>
              <a:t>Q4 2026 – Q1 2027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3200400"/>
            <a:ext cx="1005840" cy="4445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3429000"/>
            <a:ext cx="1024128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Calibri"/>
                <a:ea typeface="Calibri"/>
              </a:rPr>
              <a:t>Europe first. Korea and Japan next year. Three social channels only. Named accounts, not ads.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263640"/>
            <a:ext cx="109728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A8A8A"/>
                </a:solidFill>
                <a:latin typeface="Calibri"/>
                <a:ea typeface="Calibri"/>
              </a:rPr>
              <a:t>8 slides  ·  Operating version  ·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004E"/>
                </a:solidFill>
                <a:latin typeface="Calibri"/>
                <a:ea typeface="Calibri"/>
              </a:rPr>
              <a:t>01  /  Where we play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10642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Calibri"/>
                <a:ea typeface="Calibri"/>
              </a:rPr>
              <a:t>Europe now. Korea / Japan in 2027. China is the factory, not the brand battlefield.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877824"/>
            <a:ext cx="384048" cy="3810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737360" cy="1170432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133856"/>
            <a:ext cx="1591056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libri"/>
                <a:ea typeface="Calibri"/>
              </a:rPr>
              <a:t>Market</a:t>
            </a:r>
          </a:p>
        </p:txBody>
      </p:sp>
      <p:sp>
        <p:nvSpPr>
          <p:cNvPr id="8" name="Rectangle 7"/>
          <p:cNvSpPr/>
          <p:nvPr/>
        </p:nvSpPr>
        <p:spPr>
          <a:xfrm>
            <a:off x="2304288" y="1078992"/>
            <a:ext cx="2880360" cy="1170432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77440" y="1133856"/>
            <a:ext cx="2734056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libri"/>
                <a:ea typeface="Calibri"/>
              </a:rPr>
              <a:t>Do now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84648" y="1078992"/>
            <a:ext cx="3246120" cy="1170432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57800" y="1133856"/>
            <a:ext cx="3099816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libri"/>
                <a:ea typeface="Calibri"/>
              </a:rPr>
              <a:t>Why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30768" y="1078992"/>
            <a:ext cx="3108960" cy="1170432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1133856"/>
            <a:ext cx="2962656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libri"/>
                <a:ea typeface="Calibri"/>
              </a:rPr>
              <a:t>Do not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249424"/>
            <a:ext cx="1737360" cy="117043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304288"/>
            <a:ext cx="1591056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11111"/>
                </a:solidFill>
                <a:latin typeface="Calibri"/>
                <a:ea typeface="Calibri"/>
              </a:rPr>
              <a:t>Europe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11111"/>
                </a:solidFill>
                <a:latin typeface="Calibri"/>
                <a:ea typeface="Calibri"/>
              </a:rPr>
              <a:t>DACH + pro clubs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04288" y="2249424"/>
            <a:ext cx="2880360" cy="117043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40" y="2304288"/>
            <a:ext cx="2734056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Calibri"/>
                <a:ea typeface="Calibri"/>
              </a:rPr>
              <a:t>Primary battlefield.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Calibri"/>
                <a:ea typeface="Calibri"/>
              </a:rPr>
              <a:t>Start immediately.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84648" y="2249424"/>
            <a:ext cx="3246120" cy="117043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57800" y="2304288"/>
            <a:ext cx="3099816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Calibri"/>
                <a:ea typeface="Calibri"/>
              </a:rPr>
              <a:t>Swiss entity, German master copy,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Calibri"/>
                <a:ea typeface="Calibri"/>
              </a:rPr>
              <a:t>Bülach, ROUNDS, live handball /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Calibri"/>
                <a:ea typeface="Calibri"/>
              </a:rPr>
              <a:t>ice hockey / football proof.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30768" y="2249424"/>
            <a:ext cx="3108960" cy="117043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20" y="2304288"/>
            <a:ext cx="2962656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Calibri"/>
                <a:ea typeface="Calibri"/>
              </a:rPr>
              <a:t>No pan-Europe ads.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Calibri"/>
                <a:ea typeface="Calibri"/>
              </a:rPr>
              <a:t>No FR/IT/ES sites first.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419856"/>
            <a:ext cx="17373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474720"/>
            <a:ext cx="1591056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11111"/>
                </a:solidFill>
                <a:latin typeface="Calibri"/>
                <a:ea typeface="Calibri"/>
              </a:rPr>
              <a:t>Korea / Japan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04288" y="3419856"/>
            <a:ext cx="28803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77440" y="3474720"/>
            <a:ext cx="2734056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Calibri"/>
                <a:ea typeface="Calibri"/>
              </a:rPr>
              <a:t>Find partners in Q1 2027.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Calibri"/>
                <a:ea typeface="Calibri"/>
              </a:rPr>
              <a:t>Do not sell this autumn.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184648" y="3419856"/>
            <a:ext cx="324612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57800" y="3474720"/>
            <a:ext cx="3099816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Calibri"/>
                <a:ea typeface="Calibri"/>
              </a:rPr>
              <a:t>Arenas pay for systems —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Calibri"/>
                <a:ea typeface="Calibri"/>
              </a:rPr>
              <a:t>but only with a local partner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Calibri"/>
                <a:ea typeface="Calibri"/>
              </a:rPr>
              <a:t>and language.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30768" y="3419856"/>
            <a:ext cx="3108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0" y="3474720"/>
            <a:ext cx="2962656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Calibri"/>
                <a:ea typeface="Calibri"/>
              </a:rPr>
              <a:t>No JP/KR website this autumn.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Calibri"/>
                <a:ea typeface="Calibri"/>
              </a:rPr>
              <a:t>No paid social.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4590288"/>
            <a:ext cx="1737360" cy="117043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645152"/>
            <a:ext cx="1591056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11111"/>
                </a:solidFill>
                <a:latin typeface="Calibri"/>
                <a:ea typeface="Calibri"/>
              </a:rPr>
              <a:t>China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304288" y="4590288"/>
            <a:ext cx="2880360" cy="117043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377440" y="4645152"/>
            <a:ext cx="2734056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Calibri"/>
                <a:ea typeface="Calibri"/>
              </a:rPr>
              <a:t>R&amp;D, manufacture, delivery.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84648" y="4590288"/>
            <a:ext cx="3246120" cy="117043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57800" y="4645152"/>
            <a:ext cx="3099816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Calibri"/>
                <a:ea typeface="Calibri"/>
              </a:rPr>
              <a:t>Shenzhen is the factory and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Calibri"/>
                <a:ea typeface="Calibri"/>
              </a:rPr>
              <a:t>software bench — not the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Calibri"/>
                <a:ea typeface="Calibri"/>
              </a:rPr>
              <a:t>European buying stage.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430768" y="4590288"/>
            <a:ext cx="3108960" cy="117043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03920" y="4645152"/>
            <a:ext cx="2962656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Calibri"/>
                <a:ea typeface="Calibri"/>
              </a:rPr>
              <a:t>Xiaohongshu is not a Europe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Calibri"/>
                <a:ea typeface="Calibri"/>
              </a:rPr>
              <a:t>acquisition channel.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5897880"/>
            <a:ext cx="11045952" cy="475488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5980176"/>
            <a:ext cx="10698480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11111"/>
                </a:solidFill>
                <a:latin typeface="Calibri"/>
                <a:ea typeface="Calibri"/>
              </a:rPr>
              <a:t>One line: this autumn we only fight in Europe. Korea/Japan is next year’s second campaign, not this quarter’s second priority.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6565392"/>
            <a:ext cx="54864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Calibri"/>
                <a:ea typeface="Calibri"/>
              </a:rPr>
              <a:t>SLAM.SYSTEMS  ·  GTM 2026 Q4–2027 Q1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0" y="6565392"/>
            <a:ext cx="1371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Calibri"/>
                <a:ea typeface="Calibri"/>
              </a:rPr>
              <a:t>2 / 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6928" y="6510528"/>
            <a:ext cx="11045952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004E"/>
                </a:solidFill>
                <a:latin typeface="Calibri"/>
                <a:ea typeface="Calibri"/>
              </a:rPr>
              <a:t>02  /  Who we sell 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10642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Calibri"/>
                <a:ea typeface="Calibri"/>
              </a:rPr>
              <a:t>Venues and integrators. Not spectators.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877824"/>
            <a:ext cx="384048" cy="3810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3584448" cy="1965960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207008"/>
            <a:ext cx="3200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004E"/>
                </a:solidFill>
                <a:latin typeface="Calibri"/>
                <a:ea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481328"/>
            <a:ext cx="32004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Calibri"/>
                <a:ea typeface="Calibri"/>
              </a:rPr>
              <a:t>Venues / clubs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874519"/>
            <a:ext cx="32004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Calibri"/>
                <a:ea typeface="Calibri"/>
              </a:rPr>
              <a:t>Technical directors and arena managers in handball, ice hockey, football. They buy “one operator, one match”.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15967" y="1078992"/>
            <a:ext cx="3584448" cy="1965960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98847" y="1207008"/>
            <a:ext cx="3200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004E"/>
                </a:solidFill>
                <a:latin typeface="Calibri"/>
                <a:ea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8847" y="1481328"/>
            <a:ext cx="32004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Calibri"/>
                <a:ea typeface="Calibri"/>
              </a:rPr>
              <a:t>Integrators / rental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7" y="1874519"/>
            <a:ext cx="32004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Calibri"/>
                <a:ea typeface="Calibri"/>
              </a:rPr>
              <a:t>European AV and sports-display firms who bundle COR + LED into a project.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65006" y="1078992"/>
            <a:ext cx="3584448" cy="1965960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6" y="1207008"/>
            <a:ext cx="3200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004E"/>
                </a:solidFill>
                <a:latin typeface="Calibri"/>
                <a:ea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6" y="1481328"/>
            <a:ext cx="32004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Calibri"/>
                <a:ea typeface="Calibri"/>
              </a:rPr>
              <a:t>Leagues / broadcast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6" y="1874519"/>
            <a:ext cx="32004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Calibri"/>
                <a:ea typeface="Calibri"/>
              </a:rPr>
              <a:t>They need data, scoring, stable signal. We do not advertise to fans.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200400"/>
            <a:ext cx="109728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004E"/>
                </a:solidFill>
                <a:latin typeface="Calibri"/>
                <a:ea typeface="Calibri"/>
              </a:rPr>
              <a:t>What we sell (only these three)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3520440"/>
            <a:ext cx="3584448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3639312"/>
            <a:ext cx="32004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Calibri"/>
                <a:ea typeface="Calibri"/>
              </a:rPr>
              <a:t>Media Playout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950208"/>
            <a:ext cx="320040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Calibri"/>
                <a:ea typeface="Calibri"/>
              </a:rPr>
              <a:t>COR family: one-operator system. Lead with SCORE + DECK.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15967" y="3520440"/>
            <a:ext cx="3584448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98847" y="3639312"/>
            <a:ext cx="32004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Calibri"/>
                <a:ea typeface="Calibri"/>
              </a:rPr>
              <a:t>LED Video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98847" y="3950208"/>
            <a:ext cx="320040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Calibri"/>
                <a:ea typeface="Calibri"/>
              </a:rPr>
              <a:t>Perimeter, scoreboard, indoor/outdoor. Proof is existing UEFA-grade jobs.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65006" y="3520440"/>
            <a:ext cx="3584448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47886" y="3639312"/>
            <a:ext cx="32004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Calibri"/>
                <a:ea typeface="Calibri"/>
              </a:rPr>
              <a:t>Projects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6" y="3950208"/>
            <a:ext cx="320040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Calibri"/>
                <a:ea typeface="Calibri"/>
              </a:rPr>
              <a:t>Not a parts catalogue. A system that runs a match night.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5120640"/>
            <a:ext cx="110642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11111"/>
                </a:solidFill>
                <a:latin typeface="Calibri"/>
                <a:ea typeface="Calibri"/>
              </a:rPr>
              <a:t>Not this: consumer fandom, ecommerce, a dealer conference, six languages at once.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565392"/>
            <a:ext cx="54864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Calibri"/>
                <a:ea typeface="Calibri"/>
              </a:rPr>
              <a:t>SLAM.SYSTEMS  ·  GTM 2026 Q4–2027 Q1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0" y="6565392"/>
            <a:ext cx="1371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Calibri"/>
                <a:ea typeface="Calibri"/>
              </a:rPr>
              <a:t>3 / 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510528"/>
            <a:ext cx="11045952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004E"/>
                </a:solidFill>
                <a:latin typeface="Calibri"/>
                <a:ea typeface="Calibri"/>
              </a:rPr>
              <a:t>03  /  Next 16 weeks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10642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Calibri"/>
                <a:ea typeface="Calibri"/>
              </a:rPr>
              <a:t>One chart: when the site goes live, when outreach starts.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877824"/>
            <a:ext cx="384048" cy="3810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1018520" cy="2724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078992"/>
            <a:ext cx="1965960" cy="29260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115568"/>
            <a:ext cx="18288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libri"/>
                <a:ea typeface="Calibri"/>
              </a:rPr>
              <a:t>Workstream</a:t>
            </a:r>
          </a:p>
        </p:txBody>
      </p:sp>
      <p:sp>
        <p:nvSpPr>
          <p:cNvPr id="9" name="Rectangle 8"/>
          <p:cNvSpPr/>
          <p:nvPr/>
        </p:nvSpPr>
        <p:spPr>
          <a:xfrm>
            <a:off x="2532888" y="1078992"/>
            <a:ext cx="646611" cy="29260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32888" y="1115568"/>
            <a:ext cx="64661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  <a:ea typeface="Calibri"/>
              </a:rPr>
              <a:t>9/15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79499" y="1078992"/>
            <a:ext cx="646611" cy="29260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79499" y="1115568"/>
            <a:ext cx="64661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  <a:ea typeface="Calibri"/>
              </a:rPr>
              <a:t>9/22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26110" y="1078992"/>
            <a:ext cx="646611" cy="29260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26110" y="1115568"/>
            <a:ext cx="64661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  <a:ea typeface="Calibri"/>
              </a:rPr>
              <a:t>9/29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72722" y="1078992"/>
            <a:ext cx="646611" cy="29260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2722" y="1115568"/>
            <a:ext cx="64661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  <a:ea typeface="Calibri"/>
              </a:rPr>
              <a:t>10/6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19333" y="1078992"/>
            <a:ext cx="646611" cy="29260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19333" y="1115568"/>
            <a:ext cx="64661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  <a:ea typeface="Calibri"/>
              </a:rPr>
              <a:t>10/13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65945" y="1078992"/>
            <a:ext cx="646611" cy="29260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65945" y="1115568"/>
            <a:ext cx="64661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  <a:ea typeface="Calibri"/>
              </a:rPr>
              <a:t>10/20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12556" y="1078992"/>
            <a:ext cx="646611" cy="29260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2556" y="1115568"/>
            <a:ext cx="64661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  <a:ea typeface="Calibri"/>
              </a:rPr>
              <a:t>10/27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59168" y="1078992"/>
            <a:ext cx="646611" cy="29260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59168" y="1115568"/>
            <a:ext cx="64661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  <a:ea typeface="Calibri"/>
              </a:rPr>
              <a:t>11/3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05779" y="1078992"/>
            <a:ext cx="646611" cy="29260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05779" y="1115568"/>
            <a:ext cx="64661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  <a:ea typeface="Calibri"/>
              </a:rPr>
              <a:t>11/10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52390" y="1078992"/>
            <a:ext cx="646611" cy="29260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52390" y="1115568"/>
            <a:ext cx="64661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  <a:ea typeface="Calibri"/>
              </a:rPr>
              <a:t>11/17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99002" y="1078992"/>
            <a:ext cx="646611" cy="29260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99002" y="1115568"/>
            <a:ext cx="64661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  <a:ea typeface="Calibri"/>
              </a:rPr>
              <a:t>11/24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45613" y="1078992"/>
            <a:ext cx="646611" cy="29260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45613" y="1115568"/>
            <a:ext cx="64661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  <a:ea typeface="Calibri"/>
              </a:rPr>
              <a:t>12/1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292225" y="1078992"/>
            <a:ext cx="646611" cy="29260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92225" y="1115568"/>
            <a:ext cx="64661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  <a:ea typeface="Calibri"/>
              </a:rPr>
              <a:t>12/15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938836" y="1078992"/>
            <a:ext cx="646611" cy="29260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38836" y="1115568"/>
            <a:ext cx="64661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  <a:ea typeface="Calibri"/>
              </a:rPr>
              <a:t>1/26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1371600"/>
            <a:ext cx="1965960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1371600"/>
            <a:ext cx="1837944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Calibri"/>
                <a:ea typeface="Calibri"/>
              </a:rPr>
              <a:t>DE site freeze + fixes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532888" y="1371600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179499" y="1371600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826110" y="1371600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472722" y="1371600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119333" y="1371600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765945" y="1371600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412556" y="1371600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059168" y="1371600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05779" y="1371600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352390" y="1371600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999002" y="1371600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645613" y="1371600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292225" y="1371600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0938836" y="1371600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587752" y="1463040"/>
            <a:ext cx="1183494" cy="164592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66928" y="1719072"/>
            <a:ext cx="196596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8368" y="1719072"/>
            <a:ext cx="1837944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Calibri"/>
                <a:ea typeface="Calibri"/>
              </a:rPr>
              <a:t>EN/ZH home + nav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532888" y="1719072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179499" y="1719072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826110" y="1719072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472722" y="1719072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119333" y="1719072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765945" y="1719072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412556" y="1719072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059168" y="1719072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705779" y="1719072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352390" y="1719072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999002" y="1719072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645613" y="1719072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292225" y="1719072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0938836" y="1719072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234363" y="1810512"/>
            <a:ext cx="1830106" cy="164592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66928" y="2066544"/>
            <a:ext cx="1965960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8368" y="2066544"/>
            <a:ext cx="1837944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Calibri"/>
                <a:ea typeface="Calibri"/>
              </a:rPr>
              <a:t>Cut over slam.systems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532888" y="2066544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179499" y="2066544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826110" y="2066544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472722" y="2066544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119333" y="2066544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5765945" y="2066544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412556" y="2066544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059168" y="2066544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705779" y="2066544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8352390" y="2066544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999002" y="2066544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9645613" y="2066544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292225" y="2066544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938836" y="2066544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880974" y="2157984"/>
            <a:ext cx="1183494" cy="164592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566928" y="2414016"/>
            <a:ext cx="196596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58368" y="2414016"/>
            <a:ext cx="1837944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Calibri"/>
                <a:ea typeface="Calibri"/>
              </a:rPr>
              <a:t>3 social accounts + first posts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532888" y="2414016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3179499" y="2414016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826110" y="2414016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472722" y="2414016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5119333" y="2414016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5765945" y="2414016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6412556" y="2414016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059168" y="2414016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7705779" y="2414016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352390" y="2414016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999002" y="2414016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9645613" y="2414016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292225" y="2414016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938836" y="2414016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4527586" y="2505456"/>
            <a:ext cx="1183494" cy="164592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566928" y="2761488"/>
            <a:ext cx="1965960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58368" y="2761488"/>
            <a:ext cx="1837944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Calibri"/>
                <a:ea typeface="Calibri"/>
              </a:rPr>
              <a:t>3 films locked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2532888" y="2761488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3179499" y="2761488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3826110" y="2761488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472722" y="2761488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119333" y="2761488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5765945" y="2761488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6412556" y="2761488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7059168" y="2761488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7705779" y="2761488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8352390" y="2761488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8999002" y="2761488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9645613" y="2761488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292225" y="2761488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938836" y="2761488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3880974" y="2852928"/>
            <a:ext cx="3123329" cy="164592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566928" y="3108960"/>
            <a:ext cx="196596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58368" y="3108960"/>
            <a:ext cx="1837944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Calibri"/>
                <a:ea typeface="Calibri"/>
              </a:rPr>
              <a:t>40 EU accounts reached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2532888" y="3108960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3179499" y="3108960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3826110" y="3108960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4472722" y="3108960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5119333" y="3108960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5765945" y="3108960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6412556" y="3108960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7059168" y="3108960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7705779" y="3108960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8352390" y="3108960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8999002" y="3108960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9645613" y="3108960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10292225" y="3108960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10938836" y="3108960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4527586" y="3200400"/>
            <a:ext cx="5063163" cy="164592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566928" y="3456432"/>
            <a:ext cx="1965960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58368" y="3456432"/>
            <a:ext cx="1837944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Calibri"/>
                <a:ea typeface="Calibri"/>
              </a:rPr>
              <a:t>KR/JP partner mapping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2532888" y="3456432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3179499" y="3456432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3826110" y="3456432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4472722" y="3456432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5119333" y="3456432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5765945" y="3456432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6412556" y="3456432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7059168" y="3456432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7705779" y="3456432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8352390" y="3456432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8999002" y="3456432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9645613" y="3456432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10292225" y="3456432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10938836" y="3456432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9053866" y="3547872"/>
            <a:ext cx="2476717" cy="164592"/>
          </a:xfrm>
          <a:prstGeom prst="rect">
            <a:avLst/>
          </a:prstGeom>
          <a:solidFill>
            <a:srgbClr val="C4C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66928" y="5897880"/>
            <a:ext cx="110642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Calibri"/>
                <a:ea typeface="Calibri"/>
              </a:rPr>
              <a:t>Magenta = must finish that week. Grey = started, not a Q4 KPI. 29 Sep is German go-live on slam.systems.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566928" y="6565392"/>
            <a:ext cx="54864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Calibri"/>
                <a:ea typeface="Calibri"/>
              </a:rPr>
              <a:t>SLAM.SYSTEMS  ·  GTM 2026 Q4–2027 Q1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241280" y="6565392"/>
            <a:ext cx="1371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Calibri"/>
                <a:ea typeface="Calibri"/>
              </a:rPr>
              <a:t>4 / 8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566928" y="6510528"/>
            <a:ext cx="11045952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004E"/>
                </a:solidFill>
                <a:latin typeface="Calibri"/>
                <a:ea typeface="Calibri"/>
              </a:rPr>
              <a:t>04  /  Website launch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10642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Calibri"/>
                <a:ea typeface="Calibri"/>
              </a:rPr>
              <a:t>German goes live on slam.systems first. EN/ZH within two weeks.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877824"/>
            <a:ext cx="384048" cy="3810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7635240" cy="786384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004E"/>
                </a:solidFill>
                <a:latin typeface="Calibri"/>
                <a:ea typeface="Calibri"/>
              </a:rPr>
              <a:t>22 Sep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84248" y="1188720"/>
            <a:ext cx="2011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Calibri"/>
                <a:ea typeface="Calibri"/>
              </a:rPr>
              <a:t>Freeze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463040"/>
            <a:ext cx="7315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Calibri"/>
                <a:ea typeface="Calibri"/>
              </a:rPr>
              <a:t>Lock German v2.2.6. Fix: fake Watch-video button, missing Peripherals in mobile nav, forms that are not mailto-only.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50976" y="1865376"/>
            <a:ext cx="25400" cy="82296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947672"/>
            <a:ext cx="7635240" cy="786384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057400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004E"/>
                </a:solidFill>
                <a:latin typeface="Calibri"/>
                <a:ea typeface="Calibri"/>
              </a:rPr>
              <a:t>29 Sep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84248" y="2057400"/>
            <a:ext cx="2011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Calibri"/>
                <a:ea typeface="Calibri"/>
              </a:rPr>
              <a:t>Go live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331720"/>
            <a:ext cx="7315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Calibri"/>
                <a:ea typeface="Calibri"/>
              </a:rPr>
              <a:t>Cut slam.systems to the new site. German is public. i@slam.systems answered in 48 hours.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50976" y="2734056"/>
            <a:ext cx="25400" cy="82296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2816352"/>
            <a:ext cx="7635240" cy="786384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926080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004E"/>
                </a:solidFill>
                <a:latin typeface="Calibri"/>
                <a:ea typeface="Calibri"/>
              </a:rPr>
              <a:t>13 Oct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84248" y="2926080"/>
            <a:ext cx="2011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Calibri"/>
                <a:ea typeface="Calibri"/>
              </a:rPr>
              <a:t>3 languages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200400"/>
            <a:ext cx="7315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Calibri"/>
                <a:ea typeface="Calibri"/>
              </a:rPr>
              <a:t>EN/ZH nav and home work. Interior pages may mix EN/DE. Chinese home must not stay English.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50976" y="3602736"/>
            <a:ext cx="25400" cy="82296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685032"/>
            <a:ext cx="7635240" cy="786384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794760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004E"/>
                </a:solidFill>
                <a:latin typeface="Calibri"/>
                <a:ea typeface="Calibri"/>
              </a:rPr>
              <a:t>20 Oct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84248" y="3794760"/>
            <a:ext cx="2011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Calibri"/>
                <a:ea typeface="Calibri"/>
              </a:rPr>
              <a:t>Proof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069080"/>
            <a:ext cx="7315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Calibri"/>
                <a:ea typeface="Calibri"/>
              </a:rPr>
              <a:t>Three films, one project PDF, LinkedIn clicks back to the site.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366760" y="1078992"/>
            <a:ext cx="3246120" cy="21488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31352" y="1207008"/>
            <a:ext cx="29260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004E"/>
                </a:solidFill>
                <a:latin typeface="Calibri"/>
                <a:ea typeface="Calibri"/>
              </a:rPr>
              <a:t>Must be true on go-live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31352" y="1536192"/>
            <a:ext cx="2926080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Calibri"/>
                <a:ea typeface="Calibri"/>
              </a:rPr>
              <a:t>· Full German site clickable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Calibri"/>
                <a:ea typeface="Calibri"/>
              </a:rPr>
              <a:t>· Start Your Project produces an enquiry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Calibri"/>
                <a:ea typeface="Calibri"/>
              </a:rPr>
              <a:t>· Swiss + Shenzhen addresses correct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Calibri"/>
                <a:ea typeface="Calibri"/>
              </a:rPr>
              <a:t>· Handball hero stays the original still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66760" y="3364992"/>
            <a:ext cx="3246120" cy="1965960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31352" y="3493008"/>
            <a:ext cx="29260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1111"/>
                </a:solidFill>
                <a:latin typeface="Calibri"/>
                <a:ea typeface="Calibri"/>
              </a:rPr>
              <a:t>Allowed to wait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31352" y="3822191"/>
            <a:ext cx="292608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Calibri"/>
                <a:ea typeface="Calibri"/>
              </a:rPr>
              <a:t>· Japanese / Korean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Calibri"/>
                <a:ea typeface="Calibri"/>
              </a:rPr>
              <a:t>· All six social icons live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Calibri"/>
                <a:ea typeface="Calibri"/>
              </a:rPr>
              <a:t>· A heavy form backend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Calibri"/>
                <a:ea typeface="Calibri"/>
              </a:rPr>
              <a:t>· A 20-image case gallery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65392"/>
            <a:ext cx="54864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Calibri"/>
                <a:ea typeface="Calibri"/>
              </a:rPr>
              <a:t>SLAM.SYSTEMS  ·  GTM 2026 Q4–2027 Q1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0" y="6565392"/>
            <a:ext cx="1371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Calibri"/>
                <a:ea typeface="Calibri"/>
              </a:rPr>
              <a:t>5 / 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6510528"/>
            <a:ext cx="11045952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004E"/>
                </a:solidFill>
                <a:latin typeface="Calibri"/>
                <a:ea typeface="Calibri"/>
              </a:rPr>
              <a:t>05  /  Three channels only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10642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Calibri"/>
                <a:ea typeface="Calibri"/>
              </a:rPr>
              <a:t>LinkedIn to sell. Instagram for proof. YouTube so buyers can find us.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877824"/>
            <a:ext cx="384048" cy="3810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554480" cy="868680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133856"/>
            <a:ext cx="1408176" cy="79552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libri"/>
                <a:ea typeface="Calibri"/>
              </a:rPr>
              <a:t>Channel</a:t>
            </a:r>
          </a:p>
        </p:txBody>
      </p:sp>
      <p:sp>
        <p:nvSpPr>
          <p:cNvPr id="8" name="Rectangle 7"/>
          <p:cNvSpPr/>
          <p:nvPr/>
        </p:nvSpPr>
        <p:spPr>
          <a:xfrm>
            <a:off x="2121408" y="1078992"/>
            <a:ext cx="2331720" cy="868680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0" y="1133856"/>
            <a:ext cx="2185416" cy="79552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libri"/>
                <a:ea typeface="Calibri"/>
              </a:rPr>
              <a:t>Why only this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53128" y="1078992"/>
            <a:ext cx="3063240" cy="868680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133856"/>
            <a:ext cx="2916936" cy="79552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libri"/>
                <a:ea typeface="Calibri"/>
              </a:rPr>
              <a:t>What we post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16368" y="1078992"/>
            <a:ext cx="1554480" cy="868680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0" y="1133856"/>
            <a:ext cx="1408176" cy="79552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libri"/>
                <a:ea typeface="Calibri"/>
              </a:rPr>
              <a:t>Cadence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70848" y="1078992"/>
            <a:ext cx="2514600" cy="868680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0" y="1133856"/>
            <a:ext cx="2368296" cy="79552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libri"/>
                <a:ea typeface="Calibri"/>
              </a:rPr>
              <a:t>Who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1947672"/>
            <a:ext cx="1554480" cy="868680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002536"/>
            <a:ext cx="1408176" cy="79552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11111"/>
                </a:solidFill>
                <a:latin typeface="Calibri"/>
                <a:ea typeface="Calibri"/>
              </a:rPr>
              <a:t>LinkedIn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08" y="1947672"/>
            <a:ext cx="2331720" cy="868680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94560" y="2002536"/>
            <a:ext cx="2185416" cy="79552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Calibri"/>
                <a:ea typeface="Calibri"/>
              </a:rPr>
              <a:t>Buyers live here.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Calibri"/>
                <a:ea typeface="Calibri"/>
              </a:rPr>
              <a:t>Primary acquisition.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53128" y="1947672"/>
            <a:ext cx="3063240" cy="868680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26280" y="2002536"/>
            <a:ext cx="2916936" cy="79552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Calibri"/>
                <a:ea typeface="Calibri"/>
              </a:rPr>
              <a:t>One-operator system, match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Calibri"/>
                <a:ea typeface="Calibri"/>
              </a:rPr>
              <a:t>night, enquiry link.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16368" y="1947672"/>
            <a:ext cx="1554480" cy="868680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0" y="2002536"/>
            <a:ext cx="1408176" cy="79552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Calibri"/>
                <a:ea typeface="Calibri"/>
              </a:rPr>
              <a:t>2 / week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70848" y="1947672"/>
            <a:ext cx="2514600" cy="868680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0" y="2002536"/>
            <a:ext cx="2368296" cy="79552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Calibri"/>
                <a:ea typeface="Calibri"/>
              </a:rPr>
              <a:t>Peter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Calibri"/>
                <a:ea typeface="Calibri"/>
              </a:rPr>
              <a:t>Linda comments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2816352"/>
            <a:ext cx="15544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2871216"/>
            <a:ext cx="1408176" cy="79552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11111"/>
                </a:solidFill>
                <a:latin typeface="Calibri"/>
                <a:ea typeface="Calibri"/>
              </a:rPr>
              <a:t>Instagram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121408" y="2816352"/>
            <a:ext cx="23317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194560" y="2871216"/>
            <a:ext cx="2185416" cy="79552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Calibri"/>
                <a:ea typeface="Calibri"/>
              </a:rPr>
              <a:t>Picture is proof.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Calibri"/>
                <a:ea typeface="Calibri"/>
              </a:rPr>
              <a:t>Integrators forward it.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53128" y="2816352"/>
            <a:ext cx="30632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26280" y="2871216"/>
            <a:ext cx="2916936" cy="79552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Calibri"/>
                <a:ea typeface="Calibri"/>
              </a:rPr>
              <a:t>15s control room, LED close-up,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Calibri"/>
                <a:ea typeface="Calibri"/>
              </a:rPr>
              <a:t>match night. No spec sheets.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516368" y="2816352"/>
            <a:ext cx="15544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9520" y="2871216"/>
            <a:ext cx="1408176" cy="79552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Calibri"/>
                <a:ea typeface="Calibri"/>
              </a:rPr>
              <a:t>3 / week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070848" y="2816352"/>
            <a:ext cx="25146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0" y="2871216"/>
            <a:ext cx="2368296" cy="79552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Calibri"/>
                <a:ea typeface="Calibri"/>
              </a:rPr>
              <a:t>Eva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Calibri"/>
                <a:ea typeface="Calibri"/>
              </a:rPr>
              <a:t>footage from site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3685032"/>
            <a:ext cx="1554480" cy="868680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3739896"/>
            <a:ext cx="1408176" cy="79552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11111"/>
                </a:solidFill>
                <a:latin typeface="Calibri"/>
                <a:ea typeface="Calibri"/>
              </a:rPr>
              <a:t>YouTube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121408" y="3685032"/>
            <a:ext cx="2331720" cy="868680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194560" y="3739896"/>
            <a:ext cx="2185416" cy="79552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Calibri"/>
                <a:ea typeface="Calibri"/>
              </a:rPr>
              <a:t>Searchable.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Calibri"/>
                <a:ea typeface="Calibri"/>
              </a:rPr>
              <a:t>Embed on site + mail.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453128" y="3685032"/>
            <a:ext cx="3063240" cy="868680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26280" y="3739896"/>
            <a:ext cx="2916936" cy="79552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Calibri"/>
                <a:ea typeface="Calibri"/>
              </a:rPr>
              <a:t>60s system film + 30s SCORE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Calibri"/>
                <a:ea typeface="Calibri"/>
              </a:rPr>
              <a:t>and 30s LED.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16368" y="3685032"/>
            <a:ext cx="1554480" cy="868680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89520" y="3739896"/>
            <a:ext cx="1408176" cy="79552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Calibri"/>
                <a:ea typeface="Calibri"/>
              </a:rPr>
              <a:t>2 / month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070848" y="3685032"/>
            <a:ext cx="2514600" cy="868680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44000" y="3739896"/>
            <a:ext cx="2368296" cy="79552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Calibri"/>
                <a:ea typeface="Calibri"/>
              </a:rPr>
              <a:t>Jürg directs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Calibri"/>
                <a:ea typeface="Calibri"/>
              </a:rPr>
              <a:t>Donglin assists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4709160"/>
            <a:ext cx="11045952" cy="65836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4828032"/>
            <a:ext cx="1069848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Calibri"/>
                <a:ea typeface="Calibri"/>
              </a:rPr>
              <a:t>Do not: TikTok, Pinterest, Xiaohongshu for Europe, Facebook as a daily channel. Accounts may exist. They are not scheduled or scored.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5486400"/>
            <a:ext cx="1106424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Calibri"/>
                <a:ea typeface="Calibri"/>
              </a:rPr>
              <a:t>How: German master first, then English. Lock three posts every Wednesday. LinkedIn Friday. Instagram weekend. Every post carries slam.systems and i@slam.systems.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6565392"/>
            <a:ext cx="54864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Calibri"/>
                <a:ea typeface="Calibri"/>
              </a:rPr>
              <a:t>SLAM.SYSTEMS  ·  GTM 2026 Q4–2027 Q1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241280" y="6565392"/>
            <a:ext cx="1371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Calibri"/>
                <a:ea typeface="Calibri"/>
              </a:rPr>
              <a:t>6 / 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6510528"/>
            <a:ext cx="11045952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004E"/>
                </a:solidFill>
                <a:latin typeface="Calibri"/>
                <a:ea typeface="Calibri"/>
              </a:rPr>
              <a:t>06  /  Video and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10642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Calibri"/>
                <a:ea typeface="Calibri"/>
              </a:rPr>
              <a:t>Three films, reused everywhere. Four acquisition lines, reviewed weekly.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877824"/>
            <a:ext cx="384048" cy="3810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060704"/>
            <a:ext cx="5623560" cy="877824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152144"/>
            <a:ext cx="53035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004E"/>
                </a:solidFill>
                <a:latin typeface="Calibri"/>
                <a:ea typeface="Calibri"/>
              </a:rPr>
              <a:t>Film A  ·  60s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53035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Calibri"/>
                <a:ea typeface="Calibri"/>
              </a:rPr>
              <a:t>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591056"/>
            <a:ext cx="53035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Calibri"/>
                <a:ea typeface="Calibri"/>
              </a:rPr>
              <a:t>One operator, one match, full night. Extend the existing 6s handball intro. Home, YouTube, enquiry page. Due 20 Oct.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020824"/>
            <a:ext cx="5623560" cy="877824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112264"/>
            <a:ext cx="53035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004E"/>
                </a:solidFill>
                <a:latin typeface="Calibri"/>
                <a:ea typeface="Calibri"/>
              </a:rPr>
              <a:t>Film B  ·  30s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331720"/>
            <a:ext cx="53035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Calibri"/>
                <a:ea typeface="Calibri"/>
              </a:rPr>
              <a:t>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51176"/>
            <a:ext cx="53035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Calibri"/>
                <a:ea typeface="Calibri"/>
              </a:rPr>
              <a:t>Score UI close-up + fascia. Only one point: one person changes the score. LinkedIn / IG.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980944"/>
            <a:ext cx="5623560" cy="877824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072384"/>
            <a:ext cx="53035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004E"/>
                </a:solidFill>
                <a:latin typeface="Calibri"/>
                <a:ea typeface="Calibri"/>
              </a:rPr>
              <a:t>Film C  ·  30s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291840"/>
            <a:ext cx="53035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Calibri"/>
                <a:ea typeface="Calibri"/>
              </a:rPr>
              <a:t>LED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511296"/>
            <a:ext cx="53035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Calibri"/>
                <a:ea typeface="Calibri"/>
              </a:rPr>
              <a:t>Perimeter and scoreboard in a live match. For integrators. No pixel-pitch lecture.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1060704"/>
            <a:ext cx="51206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Calibri"/>
                <a:ea typeface="Calibri"/>
              </a:rPr>
              <a:t>Four acquisition lines only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46520" y="1389888"/>
            <a:ext cx="516636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01968" y="1481328"/>
            <a:ext cx="48463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004E"/>
                </a:solidFill>
                <a:latin typeface="Calibri"/>
                <a:ea typeface="Calibri"/>
              </a:rPr>
              <a:t>1  List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01968" y="1755648"/>
            <a:ext cx="484632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Calibri"/>
                <a:ea typeface="Calibri"/>
              </a:rPr>
              <a:t>Peter + Linda name 40: DACH clubs, arenas, integrators. Eight reached each week.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46520" y="2350008"/>
            <a:ext cx="516636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01968" y="2441448"/>
            <a:ext cx="48463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004E"/>
                </a:solidFill>
                <a:latin typeface="Calibri"/>
                <a:ea typeface="Calibri"/>
              </a:rPr>
              <a:t>2 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01968" y="2715768"/>
            <a:ext cx="484632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Calibri"/>
                <a:ea typeface="Calibri"/>
              </a:rPr>
              <a:t>ROUNDS brings five Swiss / southern-German opportunities this season. No new dealer army.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46520" y="3310128"/>
            <a:ext cx="516636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01968" y="3401568"/>
            <a:ext cx="48463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004E"/>
                </a:solidFill>
                <a:latin typeface="Calibri"/>
                <a:ea typeface="Calibri"/>
              </a:rPr>
              <a:t>3  Inbound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01968" y="3675888"/>
            <a:ext cx="484632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Calibri"/>
                <a:ea typeface="Calibri"/>
              </a:rPr>
              <a:t>Site form + i@slam.systems, human reply in 48h. One sheet, reviewed Mondays.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4270248"/>
            <a:ext cx="516636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01968" y="4361688"/>
            <a:ext cx="48463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004E"/>
                </a:solidFill>
                <a:latin typeface="Calibri"/>
                <a:ea typeface="Calibri"/>
              </a:rPr>
              <a:t>4  Show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01968" y="4636008"/>
            <a:ext cx="484632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Calibri"/>
                <a:ea typeface="Calibri"/>
              </a:rPr>
              <a:t>One show only: ISE Barcelona, Feb 2027. No extra autumn tour.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65392"/>
            <a:ext cx="54864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Calibri"/>
                <a:ea typeface="Calibri"/>
              </a:rPr>
              <a:t>SLAM.SYSTEMS  ·  GTM 2026 Q4–2027 Q1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0" y="6565392"/>
            <a:ext cx="1371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Calibri"/>
                <a:ea typeface="Calibri"/>
              </a:rPr>
              <a:t>7 / 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6510528"/>
            <a:ext cx="11045952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004E"/>
                </a:solidFill>
                <a:latin typeface="Calibri"/>
                <a:ea typeface="Calibri"/>
              </a:rPr>
              <a:t>07  /  What must be done in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10642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Calibri"/>
                <a:ea typeface="Calibri"/>
              </a:rPr>
              <a:t>Date, owner, number. No third status.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877824"/>
            <a:ext cx="384048" cy="3810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417320" cy="530352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133856"/>
            <a:ext cx="1271016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libri"/>
                <a:ea typeface="Calibri"/>
              </a:rPr>
              <a:t>Date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1984248" y="1078992"/>
            <a:ext cx="4160520" cy="530352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1133856"/>
            <a:ext cx="4014216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libri"/>
                <a:ea typeface="Calibri"/>
              </a:rPr>
              <a:t>Must ship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44768" y="1078992"/>
            <a:ext cx="2926080" cy="530352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1133856"/>
            <a:ext cx="2779776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libri"/>
                <a:ea typeface="Calibri"/>
              </a:rPr>
              <a:t>Owner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70848" y="1078992"/>
            <a:ext cx="2514600" cy="530352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1133856"/>
            <a:ext cx="2368296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libri"/>
                <a:ea typeface="Calibri"/>
              </a:rPr>
              <a:t>Number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1609344"/>
            <a:ext cx="1417320" cy="53035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1664208"/>
            <a:ext cx="1271016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11111"/>
                </a:solidFill>
                <a:latin typeface="Calibri"/>
                <a:ea typeface="Calibri"/>
              </a:rPr>
              <a:t>29 Sep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84248" y="1609344"/>
            <a:ext cx="4160520" cy="53035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57400" y="1664208"/>
            <a:ext cx="4014216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Calibri"/>
                <a:ea typeface="Calibri"/>
              </a:rPr>
              <a:t>German live on slam.systems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44768" y="1609344"/>
            <a:ext cx="2926080" cy="53035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0" y="1664208"/>
            <a:ext cx="2779776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Calibri"/>
                <a:ea typeface="Calibri"/>
              </a:rPr>
              <a:t>Linda / web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70848" y="1609344"/>
            <a:ext cx="2514600" cy="53035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0" y="1664208"/>
            <a:ext cx="2368296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Calibri"/>
                <a:ea typeface="Calibri"/>
              </a:rPr>
              <a:t>1 public domain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2139696"/>
            <a:ext cx="141732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2194560"/>
            <a:ext cx="1271016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11111"/>
                </a:solidFill>
                <a:latin typeface="Calibri"/>
                <a:ea typeface="Calibri"/>
              </a:rPr>
              <a:t>13 Oct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984248" y="2139696"/>
            <a:ext cx="416052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57400" y="2194560"/>
            <a:ext cx="4014216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Calibri"/>
                <a:ea typeface="Calibri"/>
              </a:rPr>
              <a:t>EN+ZH home and nav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2139696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17920" y="2194560"/>
            <a:ext cx="2779776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Calibri"/>
                <a:ea typeface="Calibri"/>
              </a:rPr>
              <a:t>Eva / web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70848" y="2139696"/>
            <a:ext cx="25146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0" y="2194560"/>
            <a:ext cx="2368296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Calibri"/>
                <a:ea typeface="Calibri"/>
              </a:rPr>
              <a:t>3 languages switch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2670048"/>
            <a:ext cx="1417320" cy="53035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2724912"/>
            <a:ext cx="1271016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11111"/>
                </a:solidFill>
                <a:latin typeface="Calibri"/>
                <a:ea typeface="Calibri"/>
              </a:rPr>
              <a:t>13 Oct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84248" y="2670048"/>
            <a:ext cx="4160520" cy="53035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057400" y="2724912"/>
            <a:ext cx="4014216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Calibri"/>
                <a:ea typeface="Calibri"/>
              </a:rPr>
              <a:t>LinkedIn / IG / YouTube first posts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44768" y="2670048"/>
            <a:ext cx="2926080" cy="53035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0" y="2724912"/>
            <a:ext cx="2779776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Calibri"/>
                <a:ea typeface="Calibri"/>
              </a:rPr>
              <a:t>Peter + Eva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070848" y="2670048"/>
            <a:ext cx="2514600" cy="53035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0" y="2724912"/>
            <a:ext cx="2368296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Calibri"/>
                <a:ea typeface="Calibri"/>
              </a:rPr>
              <a:t>≥1 post per channel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3200400"/>
            <a:ext cx="141732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3255264"/>
            <a:ext cx="1271016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11111"/>
                </a:solidFill>
                <a:latin typeface="Calibri"/>
                <a:ea typeface="Calibri"/>
              </a:rPr>
              <a:t>20 Oct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984248" y="3200400"/>
            <a:ext cx="416052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57400" y="3255264"/>
            <a:ext cx="4014216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Calibri"/>
                <a:ea typeface="Calibri"/>
              </a:rPr>
              <a:t>Three films on the site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44768" y="3200400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17920" y="3255264"/>
            <a:ext cx="2779776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Calibri"/>
                <a:ea typeface="Calibri"/>
              </a:rPr>
              <a:t>Jürg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070848" y="3200400"/>
            <a:ext cx="25146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44000" y="3255264"/>
            <a:ext cx="2368296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Calibri"/>
                <a:ea typeface="Calibri"/>
              </a:rPr>
              <a:t>60s + 30s + 30s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3730752"/>
            <a:ext cx="1417320" cy="53035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3785616"/>
            <a:ext cx="1271016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11111"/>
                </a:solidFill>
                <a:latin typeface="Calibri"/>
                <a:ea typeface="Calibri"/>
              </a:rPr>
              <a:t>30 Nov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984248" y="3730752"/>
            <a:ext cx="4160520" cy="53035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057400" y="3785616"/>
            <a:ext cx="4014216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Calibri"/>
                <a:ea typeface="Calibri"/>
              </a:rPr>
              <a:t>Full Europe list reached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44768" y="3730752"/>
            <a:ext cx="2926080" cy="53035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217920" y="3785616"/>
            <a:ext cx="2779776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Calibri"/>
                <a:ea typeface="Calibri"/>
              </a:rPr>
              <a:t>Peter + Linda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070848" y="3730752"/>
            <a:ext cx="2514600" cy="53035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44000" y="3785616"/>
            <a:ext cx="2368296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Calibri"/>
                <a:ea typeface="Calibri"/>
              </a:rPr>
              <a:t>40 accounts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66928" y="4261104"/>
            <a:ext cx="141732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0080" y="4315968"/>
            <a:ext cx="1271016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11111"/>
                </a:solidFill>
                <a:latin typeface="Calibri"/>
                <a:ea typeface="Calibri"/>
              </a:rPr>
              <a:t>20 Dec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984248" y="4261104"/>
            <a:ext cx="416052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057400" y="4315968"/>
            <a:ext cx="4014216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Calibri"/>
                <a:ea typeface="Calibri"/>
              </a:rPr>
              <a:t>Real conversations (not likes)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144768" y="4261104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217920" y="4315968"/>
            <a:ext cx="2779776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Calibri"/>
                <a:ea typeface="Calibri"/>
              </a:rPr>
              <a:t>Linda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070848" y="4261104"/>
            <a:ext cx="25146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144000" y="4315968"/>
            <a:ext cx="2368296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Calibri"/>
                <a:ea typeface="Calibri"/>
              </a:rPr>
              <a:t>8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4791456"/>
            <a:ext cx="1417320" cy="53035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0080" y="4846320"/>
            <a:ext cx="1271016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11111"/>
                </a:solidFill>
                <a:latin typeface="Calibri"/>
                <a:ea typeface="Calibri"/>
              </a:rPr>
              <a:t>31 Jan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984248" y="4791456"/>
            <a:ext cx="4160520" cy="53035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057400" y="4846320"/>
            <a:ext cx="4014216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Calibri"/>
                <a:ea typeface="Calibri"/>
              </a:rPr>
              <a:t>On-site demo or venue walk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144768" y="4791456"/>
            <a:ext cx="2926080" cy="53035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217920" y="4846320"/>
            <a:ext cx="2779776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Calibri"/>
                <a:ea typeface="Calibri"/>
              </a:rPr>
              <a:t>Linda + Jürg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070848" y="4791456"/>
            <a:ext cx="2514600" cy="53035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44000" y="4846320"/>
            <a:ext cx="2368296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Calibri"/>
                <a:ea typeface="Calibri"/>
              </a:rPr>
              <a:t>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66928" y="5532120"/>
            <a:ext cx="11045952" cy="77724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68096" y="5687568"/>
            <a:ext cx="1060704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</a:rPr>
              <a:t>Start next Monday: freeze the German defect list, draft the 40-name Europe list. Korea/Japan stay off this scoreboard.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66928" y="6565392"/>
            <a:ext cx="54864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Calibri"/>
                <a:ea typeface="Calibri"/>
              </a:rPr>
              <a:t>SLAM.SYSTEMS  ·  GTM 2026 Q4–2027 Q1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241280" y="6565392"/>
            <a:ext cx="1371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Calibri"/>
                <a:ea typeface="Calibri"/>
              </a:rPr>
              <a:t>8 / 8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66928" y="6510528"/>
            <a:ext cx="11045952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