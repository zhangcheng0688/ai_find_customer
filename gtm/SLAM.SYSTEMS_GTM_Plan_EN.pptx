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Calibri"/>
                <a:ea typeface="Calibri"/>
              </a:rPr>
              <a:t>SLAM.SYSTEMS  · 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Calibri"/>
                <a:ea typeface="Calibri"/>
              </a:rPr>
              <a:t>Go-to-Market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50592"/>
            <a:ext cx="10972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8C8C8"/>
                </a:solidFill>
                <a:latin typeface="Calibri"/>
                <a:ea typeface="Calibri"/>
              </a:rPr>
              <a:t>The operating strategy  ·  Q4 2026 – Q1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944368"/>
            <a:ext cx="1097280" cy="4445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200400"/>
            <a:ext cx="106070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Calibri"/>
                <a:ea typeface="Calibri"/>
              </a:rPr>
              <a:t>Sell projects in Europe now. Enter Japan through shows and dealers.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Calibri"/>
                <a:ea typeface="Calibri"/>
              </a:rPr>
              <a:t>Five online engines fill the pipe. Offline we travel the show calendar — no booth, meetings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144768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Calibri"/>
                <a:ea typeface="Calibri"/>
              </a:rPr>
              <a:t>11 slides  ·  Operating version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92608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Calibri"/>
                <a:ea typeface="Calibri"/>
              </a:rPr>
              <a:t>01  /  The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10642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One job: one system that runs a professional match night.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3584448" cy="4434840"/>
          </a:xfrm>
          <a:prstGeom prst="rect">
            <a:avLst/>
          </a:prstGeom>
          <a:solidFill>
            <a:srgbClr val="161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73152" cy="44348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Calibri"/>
                <a:ea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</a:rPr>
              <a:t>Brand asset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31089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The site is HQ.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LinkedIn / Instagram / YouTube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are the only three signs.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Mail, shows and dealers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all point back to slam.systems.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417320"/>
            <a:ext cx="3584448" cy="4434840"/>
          </a:xfrm>
          <a:prstGeom prst="rect">
            <a:avLst/>
          </a:prstGeom>
          <a:solidFill>
            <a:srgbClr val="161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417320"/>
            <a:ext cx="73152" cy="44348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627632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993392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</a:rPr>
              <a:t>Demand pipe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542032"/>
            <a:ext cx="31089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Email, direct outreach,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closed online briefings.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Named accounts, no ads.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The same names get hit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before and after each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4" y="1417320"/>
            <a:ext cx="3584448" cy="4434840"/>
          </a:xfrm>
          <a:prstGeom prst="rect">
            <a:avLst/>
          </a:prstGeom>
          <a:solidFill>
            <a:srgbClr val="161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1584" y="1417320"/>
            <a:ext cx="73152" cy="44348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627632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993392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</a:rPr>
              <a:t>Land &amp;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542032"/>
            <a:ext cx="31089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Travel the show calendar.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No booth — hotel meetings.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Scale is not headcount.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Dealers and integrators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Calibri"/>
                <a:ea typeface="Calibri"/>
              </a:rPr>
              <a:t>put the system in venues.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8C8"/>
                </a:solidFill>
                <a:latin typeface="Calibri"/>
                <a:ea typeface="Calibri"/>
              </a:rPr>
              <a:t>SLAM.SYSTEMS  ·  GTM 2026 Q4 – 2027 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8C8"/>
                </a:solidFill>
                <a:latin typeface="Calibri"/>
                <a:ea typeface="Calibri"/>
              </a:rPr>
              <a:t>2 / 11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02  /  Markets and buyers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Europe first. Japan through shows. China is the factory.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24128"/>
            <a:ext cx="2148840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60704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15768" y="1024128"/>
            <a:ext cx="1554480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060704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1024128"/>
            <a:ext cx="3977639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060704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Do now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7887" y="1024128"/>
            <a:ext cx="3337560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39" y="1060704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Do not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609344"/>
            <a:ext cx="214884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645920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Europe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DACH + pro clubs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15768" y="1609344"/>
            <a:ext cx="155448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1645920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Primary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0248" y="1609344"/>
            <a:ext cx="3977639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645920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Sell projects now. German site first.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Travel SPORTEL and ISE.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7" y="1609344"/>
            <a:ext cx="333756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1645920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No pan-EU ads.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No FR/IT/ES sites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194560"/>
            <a:ext cx="21488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231136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Japan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5768" y="2194560"/>
            <a:ext cx="15544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2231136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Second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0248" y="2194560"/>
            <a:ext cx="3977639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2231136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Do not sell parts this autumn.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Inter BEE + Sports Week for dealers.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7" y="2194560"/>
            <a:ext cx="33375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39" y="2231136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No JP site this autumn.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No ads, no booth.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779776"/>
            <a:ext cx="214884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816352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Korea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5768" y="2779776"/>
            <a:ext cx="155448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88920" y="2816352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Optional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70248" y="2779776"/>
            <a:ext cx="3977639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2816352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KOBA May 2027 only if a Japan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dealer can open the door.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47887" y="2779776"/>
            <a:ext cx="333756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39" y="2816352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No standalone Korea campaign.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364992"/>
            <a:ext cx="21488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401568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China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15768" y="3364992"/>
            <a:ext cx="15544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88920" y="3401568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Factory / R&amp;D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70248" y="3364992"/>
            <a:ext cx="3977639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3401568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Shenzhen builds, codes, ships.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47887" y="3364992"/>
            <a:ext cx="33375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39" y="3401568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Xiaohongshu is not a Europe channel.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0416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Calibri"/>
                <a:ea typeface="Calibri"/>
              </a:rPr>
              <a:t>Who we sell to (only these three)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352544"/>
            <a:ext cx="3584448" cy="192024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4480560"/>
            <a:ext cx="3246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Venues / clubs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4809744"/>
            <a:ext cx="3246120" cy="1298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Technical directors in handball, ice hockey, football. They buy one operator for a full match.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15967" y="4352544"/>
            <a:ext cx="3584448" cy="192024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59" y="4480560"/>
            <a:ext cx="3246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Integrators / rental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59" y="4809744"/>
            <a:ext cx="3246120" cy="1298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European AV and sports-display firms. They bundle COR + LED — and are dealer candidates.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65006" y="4352544"/>
            <a:ext cx="3584448" cy="192024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598" y="4480560"/>
            <a:ext cx="3246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Leagues / broadcast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598" y="4809744"/>
            <a:ext cx="3246120" cy="1298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Score, data, stable signal. We do not advertise to fans.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 – 2027 Q1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3 / 11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03  /  Operating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Five online. Two offline. They run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6903720" cy="4773168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170432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Calibri"/>
                <a:ea typeface="Calibri"/>
              </a:rPr>
              <a:t>Online  ·  always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01 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77393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slam.systems is HQ. German first, EN/ZH next. Every channel lands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32257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02  Social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59689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LinkedIn, Instagram, YouTube only. Sell, prove, be searchable.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4553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03  Email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985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Sequences to the named list: intro → film → show meeting. No industry newsletter.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96849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04  Direct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24281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Peter + Linda name 40 EU venues/integrators. Eight a week.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79145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05  Online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506577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Closed briefings, not public livestreams. Monthly, for integrators and dealer candidates.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1042415"/>
            <a:ext cx="3931920" cy="47731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1170432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Calibri"/>
                <a:ea typeface="Calibri"/>
              </a:rPr>
              <a:t>Offline  ·  on the nodes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627632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</a:rPr>
              <a:t>06  Show travel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2066544"/>
            <a:ext cx="35661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C8C8"/>
                </a:solidFill>
                <a:latin typeface="Calibri"/>
                <a:ea typeface="Calibri"/>
              </a:rPr>
              <a:t>Move on the Europe and Japan calendar. No booth. Book, meet, follow up.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3502151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</a:rPr>
              <a:t>07  Dealers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941063"/>
            <a:ext cx="35661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C8C8"/>
                </a:solidFill>
                <a:latin typeface="Calibri"/>
                <a:ea typeface="Calibri"/>
              </a:rPr>
              <a:t>This is scale. Add EU integrators at ISE. Find one Japan partner at Inter BEE.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925312"/>
            <a:ext cx="11064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Calibri"/>
                <a:ea typeface="Calibri"/>
              </a:rPr>
              <a:t>Rule: online warms the names. Offline closes them at shows. Dealers are scale — not an autumn franchise conference.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 – 2027 Q1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4 / 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04  /  The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German live on slam.systems first. EN/ZH within two weeks.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170431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Calibri"/>
                <a:ea typeface="Calibri"/>
              </a:rPr>
              <a:t>22 Sep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1408" y="1170431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Freeze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499615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Lock German v2.2.6. Fix fake Watch-video, missing Peripherals in mobile nav, mailto-only forms.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21407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49423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Calibri"/>
                <a:ea typeface="Calibri"/>
              </a:rPr>
              <a:t>29 Sep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2249423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Go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578607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Cut slam.systems to the new site. German is public. i@slam.systems answered in 48 hours.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00399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328415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Calibri"/>
                <a:ea typeface="Calibri"/>
              </a:rPr>
              <a:t>13 Oct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3328415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3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657599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EN/ZH nav and home work. Chinese home must not stay English.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279391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07407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Calibri"/>
                <a:ea typeface="Calibri"/>
              </a:rPr>
              <a:t>20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4407407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Ammunition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36591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Three films, one project PDF. Every mail, post and show QR lands here.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1042415"/>
            <a:ext cx="3246120" cy="2331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31352" y="1188720"/>
            <a:ext cx="2926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Calibri"/>
                <a:ea typeface="Calibri"/>
              </a:rPr>
              <a:t>Must be true on go-live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1554480"/>
            <a:ext cx="29260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  <a:ea typeface="Calibri"/>
              </a:rPr>
              <a:t>· Full German site clickable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  <a:ea typeface="Calibri"/>
              </a:rPr>
              <a:t>· Start Your Project produces an enquiry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  <a:ea typeface="Calibri"/>
              </a:rPr>
              <a:t>· Swiss + Shenzhen addresses correct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  <a:ea typeface="Calibri"/>
              </a:rPr>
              <a:t>· Handball hero stays the original still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60" y="3529584"/>
            <a:ext cx="324612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657600"/>
            <a:ext cx="2926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Calibri"/>
                <a:ea typeface="Calibri"/>
              </a:rPr>
              <a:t>Allowed to wait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352" y="4005072"/>
            <a:ext cx="292608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· Japanese / Korean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· All six social icons live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· A heavy form backend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· A 20-image case gallery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 – 2027 Q1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5 / 11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05  /  Social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Three channels. Post the match, not the spec. Spike around shows.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24128"/>
            <a:ext cx="1554480" cy="96012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60704"/>
            <a:ext cx="14081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Channel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121408" y="1024128"/>
            <a:ext cx="2240280" cy="96012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06070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Why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024128"/>
            <a:ext cx="3154680" cy="96012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60704"/>
            <a:ext cx="30083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What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6368" y="1024128"/>
            <a:ext cx="1828800" cy="96012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060704"/>
            <a:ext cx="168249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Cadence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45168" y="1024128"/>
            <a:ext cx="2240280" cy="96012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0" y="106070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Who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984248"/>
            <a:ext cx="15544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020824"/>
            <a:ext cx="14081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Calibri"/>
                <a:ea typeface="Calibri"/>
              </a:rPr>
              <a:t>LinkedIn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08" y="1984248"/>
            <a:ext cx="22402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4560" y="202082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Buyers live here.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Primary acquisition.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61688" y="1984248"/>
            <a:ext cx="31546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2020824"/>
            <a:ext cx="30083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One-operator system, match night,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show-meeting link.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16368" y="1984248"/>
            <a:ext cx="182880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020824"/>
            <a:ext cx="168249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2 / week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4 in show week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45168" y="1984248"/>
            <a:ext cx="22402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202082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Peter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Linda comments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944368"/>
            <a:ext cx="15544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980944"/>
            <a:ext cx="14081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Calibri"/>
                <a:ea typeface="Calibri"/>
              </a:rPr>
              <a:t>Instagram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21408" y="2944368"/>
            <a:ext cx="2240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298094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Picture is proof.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Integrators forward it.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1688" y="2944368"/>
            <a:ext cx="3154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2980944"/>
            <a:ext cx="30083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15s control room, LED close-up,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match night. No spec sheets.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16368" y="2944368"/>
            <a:ext cx="18288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2980944"/>
            <a:ext cx="168249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3 / week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45168" y="2944368"/>
            <a:ext cx="2240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298094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Eva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footage from site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904488"/>
            <a:ext cx="15544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3941064"/>
            <a:ext cx="14081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Calibri"/>
                <a:ea typeface="Calibri"/>
              </a:rPr>
              <a:t>YouTube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21408" y="3904488"/>
            <a:ext cx="22402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94106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Searchable.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Embed on site + mail.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61688" y="3904488"/>
            <a:ext cx="31546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4840" y="3941064"/>
            <a:ext cx="30083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60s system film + 30s SCORE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and 30s 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16368" y="3904488"/>
            <a:ext cx="182880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0" y="3941064"/>
            <a:ext cx="168249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2 / month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45168" y="3904488"/>
            <a:ext cx="22402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8320" y="394106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Jürg directs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Calibri"/>
                <a:ea typeface="Calibri"/>
              </a:rPr>
              <a:t>Donglin assists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5010912"/>
            <a:ext cx="11045952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5102352"/>
            <a:ext cx="1069848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  <a:ea typeface="Calibri"/>
              </a:rPr>
              <a:t>Three films, reused everywhere: A 60s system (due 20 Oct, extend the handball intro) · B 30s SCORE · C 30s LED. Same pack for site, mail, shows, dealers.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779008"/>
            <a:ext cx="1106424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Do not: TikTok, Pinterest, Xiaohongshu for Europe, Facebook as a daily channel. Accounts may exist. They are not scheduled or scored.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 – 2027 Q1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6 / 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06  /  Email  ·  Direct outreach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Named accounts. Forty in Europe first. Shows are the reason to meet.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3584448" cy="28803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170432"/>
            <a:ext cx="32186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Three emails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572768"/>
            <a:ext cx="3218688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1 Intro: one-operator system, link the site.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2 Proof: embed the 60s film.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3 Meeting: the next show is the reason.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German master, English backup. No blast.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7" y="1042415"/>
            <a:ext cx="3584448" cy="28803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7" y="1170432"/>
            <a:ext cx="32186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Direct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7" y="1572768"/>
            <a:ext cx="3218688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Peter + Linda name 40: DACH clubs, arenas, integrators.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Eight a week — phone, LinkedIn, mail in the same week.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ROUNDS brings five more Swiss / south-German chances.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5006" y="1042415"/>
            <a:ext cx="3584448" cy="28803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6" y="1170432"/>
            <a:ext cx="32186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Inbound discipline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6" y="1572768"/>
            <a:ext cx="3218688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i@slam.systems, human reply in 48h.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One sheet, reviewed Mondays.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Only real conversations count.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In show week, replies become “see you there”.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078224"/>
            <a:ext cx="3584448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206240"/>
            <a:ext cx="32186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Calibri"/>
                <a:ea typeface="Calibri"/>
              </a:rPr>
              <a:t>T-21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480560"/>
            <a:ext cx="32186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Three weeks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828032"/>
            <a:ext cx="3218688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Send email 3 to people who will be there. Lock 8–12 meetings.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7" y="4078224"/>
            <a:ext cx="3584448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7" y="4206240"/>
            <a:ext cx="32186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Calibri"/>
                <a:ea typeface="Calibri"/>
              </a:rPr>
              <a:t>T-7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7" y="4480560"/>
            <a:ext cx="32186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One week 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7" y="4828032"/>
            <a:ext cx="3218688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Confirm time, hotel, one-pager.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6" y="4078224"/>
            <a:ext cx="3584448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6" y="4206240"/>
            <a:ext cx="32186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Calibri"/>
                <a:ea typeface="Calibri"/>
              </a:rPr>
              <a:t>T+3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6" y="4480560"/>
            <a:ext cx="32186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Calibri"/>
                <a:ea typeface="Calibri"/>
              </a:rPr>
              <a:t>Three days after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6" y="4828032"/>
            <a:ext cx="3218688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Notes + film + next step. Project track or dealer track.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 – 2027 Q1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7 / 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07  /  Events  ·  Online briefings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No public festival. Put the right people in a small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20700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Monthly closed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60934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30 minutes. One-operator system + one film. Invite 8–12 integrators or dealer candidates. From November, Linda hosts.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04241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20700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Night-before the show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60934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90 minutes in the hotel the evening before ISE / Inter BEE. The booked names plus four local adds. Not a drinks party.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00837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17296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Match-night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57530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When we have a live job, open a 20-minute control-room view for the shortlist. Proof beats slides. Jürg on the call.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6208" y="300837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17296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Dealer roundtable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357530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One Europe, one Japan. Territory, project support, 48h factory. Not a franchise pitch.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074920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Calibri"/>
                <a:ea typeface="Calibri"/>
              </a:rPr>
              <a:t>Do not: fan livestreams, public lead-gen webinars, six-language simulcast, events for their own sake.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532120"/>
            <a:ext cx="11045952" cy="7772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50992"/>
            <a:ext cx="106070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  <a:ea typeface="Calibri"/>
              </a:rPr>
              <a:t>Each event produces only three things: the attendance list, two next meetings, one LinkedIn line from the room. Nothing else.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 – 2027 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8 / 11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08  /  Show calendar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No booth. Travel the nodes. Europe for projects, Japan for a dealer.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05840"/>
            <a:ext cx="178308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42416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When</a:t>
            </a:r>
          </a:p>
        </p:txBody>
      </p:sp>
      <p:sp>
        <p:nvSpPr>
          <p:cNvPr id="8" name="Rectangle 7"/>
          <p:cNvSpPr/>
          <p:nvPr/>
        </p:nvSpPr>
        <p:spPr>
          <a:xfrm>
            <a:off x="2350008" y="1005840"/>
            <a:ext cx="233172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042416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Show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1728" y="1005840"/>
            <a:ext cx="141732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042416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1005840"/>
            <a:ext cx="251460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042416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Who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13648" y="1005840"/>
            <a:ext cx="297180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042416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How we play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572768"/>
            <a:ext cx="178308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609344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19–21 Oct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50008" y="1572768"/>
            <a:ext cx="23317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3160" y="1609344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SPORTEL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1728" y="1572768"/>
            <a:ext cx="14173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1609344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Monaco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9048" y="1572768"/>
            <a:ext cx="25146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609344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Leagues / broadcast / sports tech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13648" y="1572768"/>
            <a:ext cx="29718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609344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First Europe trip. Visitor + 8 meetings.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139696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176272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18–20 Nov 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50008" y="2139696"/>
            <a:ext cx="2331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23160" y="2176272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Inter BEE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728" y="2139696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2176272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Chiba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9048" y="2139696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2176272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Broadcast / system houses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13648" y="2139696"/>
            <a:ext cx="2971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2176272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First Japan trip. Hunt a dealer, no parts sales.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2706624"/>
            <a:ext cx="178308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2743200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27–29 Jan 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50008" y="2706624"/>
            <a:ext cx="23317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23160" y="2743200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Japan Sports Week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81728" y="2706624"/>
            <a:ext cx="14173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2743200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Chiba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9048" y="2706624"/>
            <a:ext cx="25146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2743200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Teams / venue facilities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13648" y="2706624"/>
            <a:ext cx="29718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0" y="2743200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Dealer shortlist. Second Japan trip.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273552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310128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1–2 Feb 2027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50008" y="3273552"/>
            <a:ext cx="2331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23160" y="3310128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Sports World Congress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1728" y="3273552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0" y="3310128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Barcelona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9048" y="3273552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72200" y="3310128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Venue operators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13648" y="3273552"/>
            <a:ext cx="2971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86800" y="3310128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Same week as ISE. Venue side.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840480"/>
            <a:ext cx="178308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3877056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2–5 Feb 2027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50008" y="3840480"/>
            <a:ext cx="23317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23160" y="3877056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ISE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81728" y="3840480"/>
            <a:ext cx="14173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3877056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Barcelona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9048" y="3840480"/>
            <a:ext cx="25146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3877056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European integrators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613648" y="3840480"/>
            <a:ext cx="29718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86800" y="3877056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Main Europe strike. Projects + dealer seeds.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4407408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4443984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11–14 May 2027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50008" y="4407408"/>
            <a:ext cx="2331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23160" y="4443984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KOBA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681728" y="4407408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4880" y="4443984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Seoul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9048" y="4407408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4443984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Korea broadcast (optional)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13648" y="4407408"/>
            <a:ext cx="2971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86800" y="4443984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Only if a Japan dealer opens the door.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5102352"/>
            <a:ext cx="11045952" cy="1207008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Calibri"/>
                <a:ea typeface="Calibri"/>
              </a:rPr>
              <a:t>Play: two people travel (commercial + technical). No booth. Twenty-one days out, lock 8–12 meetings near the hall — breakfast and evening. Four real meetings a day. Seven days after, every name followed, split into project vs dealer. IBC Amsterdam Sep 2026 has passed; we do not backfill. FSB Cologne Oct 2027 is a hold, not a Q1 KPI.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 – 2027 Q1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9 / 11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09  /  Dealers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Scale needs dealers. Shows are where we find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42415"/>
            <a:ext cx="110642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</a:rPr>
              <a:t>One company cannot cover DACH clubs and Japanese venues. Hiring will not close the gap.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</a:rPr>
              <a:t>Dealers and integrators put COR + LED into projects. We keep delivery and a 48-hour factory.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65960"/>
            <a:ext cx="3584448" cy="32461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3584448" cy="508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194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Calibri"/>
                <a:ea typeface="Calibri"/>
              </a:rPr>
              <a:t>Europe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51760"/>
            <a:ext cx="3200400" cy="2331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ROUNDS is the Swiss / south-German door now.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ISE: two more integrators who can package a venue (DE, NL or Nordic).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This season: conversations, not twenty contracts.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7" y="1965960"/>
            <a:ext cx="3584448" cy="32461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7" y="1965960"/>
            <a:ext cx="3584448" cy="508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5" y="2194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Calibri"/>
                <a:ea typeface="Calibri"/>
              </a:rPr>
              <a:t>Japan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5" y="2651760"/>
            <a:ext cx="3200400" cy="2331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We do not enter without one local partner.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Inter BEE opens talks, Sports Week shortlists,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LOI target March 2027. No parts sales this autumn.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6" y="1965960"/>
            <a:ext cx="3584448" cy="32461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5006" y="1965960"/>
            <a:ext cx="3584448" cy="508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4" y="2194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Calibri"/>
                <a:ea typeface="Calibri"/>
              </a:rPr>
              <a:t>What they 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4" y="2651760"/>
            <a:ext cx="3200400" cy="2331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DE/EN pack, three films, project PDF,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48h factory, one remote demo.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Calibri"/>
                <a:ea typeface="Calibri"/>
              </a:rPr>
              <a:t>No consumer franchise. No dealer conference.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376672"/>
            <a:ext cx="110459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522976"/>
            <a:ext cx="10607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  <a:ea typeface="Calibri"/>
              </a:rPr>
              <a:t>Rule: few and real. Two incremental in Europe, one in Japan. Venue projects first, paper second. A badge scan is not a dealer.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 – 2027 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10 / 11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10  /  What must be done in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Date, owner, number. No third status.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23444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24128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1368" y="987552"/>
            <a:ext cx="370332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024128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Must ship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987552"/>
            <a:ext cx="214884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024128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Engine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53528" y="987552"/>
            <a:ext cx="196596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80" y="102412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Owner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9488" y="987552"/>
            <a:ext cx="196596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102412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Number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426464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463040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29 Sep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1368" y="1426464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20" y="1463040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German live on slam.systems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04688" y="1426464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1463040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53528" y="1426464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146304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Linda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9488" y="1426464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146304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1 domain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1865376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1901952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13 Oct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1368" y="1865376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74520" y="1901952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EN+ZH home / social first posts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04688" y="1865376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1901952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Site · Social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53528" y="1865376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0" y="190195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Eva + Peter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19488" y="1865376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190195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3 langs + 3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2304288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2340864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20 Oct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01368" y="2304288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74520" y="2340864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Three films on the site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04688" y="2304288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2340864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Social · Email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53528" y="2304288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6680" y="234086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Jürg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9488" y="2304288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234086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60s+30s+30s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2743200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2779776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21 Oct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01368" y="2743200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74520" y="2779776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SPORTEL trip done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04688" y="2743200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2779776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Show · Direct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53528" y="2743200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277977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Linda + Peter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19488" y="2743200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77977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8 meetings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182112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3218688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20 Nov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01368" y="3182112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74520" y="3218688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Inter BEE dealer talks open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04688" y="3182112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77840" y="3218688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Show · Dealer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53528" y="3182112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26680" y="321868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Linda + Jürg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19488" y="3182112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92640" y="321868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6 meetings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3621024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3657600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30 Nov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01368" y="3621024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74520" y="3657600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Full Europe list reached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04688" y="3621024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77840" y="3657600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Email · Direct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53528" y="3621024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26680" y="365760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Peter + Linda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19488" y="3621024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92640" y="365760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40 accounts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4059936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4096512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20 Dec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01368" y="4059936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874520" y="4096512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Real conversations (not likes)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504688" y="4059936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577840" y="4096512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Direct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653528" y="4059936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26680" y="409651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Linda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19488" y="4059936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92640" y="409651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28" y="4498848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0080" y="4535424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29 Jan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801368" y="4498848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874520" y="4535424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Japan dealer shortlist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04688" y="4498848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577840" y="4535424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Dealer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653528" y="4498848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26680" y="453542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Linda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619488" y="4498848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692640" y="453542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3 names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28" y="4937760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" y="4974336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5 Feb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801368" y="4937760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874520" y="4974336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ISE + SWC Barcelona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504688" y="4937760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577840" y="4974336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Show · Dealer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653528" y="4937760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26680" y="497433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Linda + Jürg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619488" y="4937760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692640" y="497433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12 meetings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28" y="5376672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0080" y="5413248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31 Mar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801368" y="5376672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874520" y="5413248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Japan LOI or a clear no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504688" y="5376672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577840" y="5413248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Dealer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653528" y="5376672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26680" y="541324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Linda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619488" y="5376672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692640" y="541324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Calibri"/>
                <a:ea typeface="Calibri"/>
              </a:rPr>
              <a:t>1 paper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28" y="5870448"/>
            <a:ext cx="11045952" cy="475488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1520" y="5925312"/>
            <a:ext cx="106984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</a:rPr>
              <a:t>Start next Monday: freeze the German defect list, draft the 40 EU names and the SPORTEL meeting list. Japan is on the show calendar, not on this autumn’s sales sheet.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 – 2027 Q1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11 / 11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